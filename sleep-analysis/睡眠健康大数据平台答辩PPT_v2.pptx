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39" d="100"/>
          <a:sy n="139" d="100"/>
        </p:scale>
        <p:origin x="7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776280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4D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097280"/>
            <a:ext cx="5029200" cy="5029200"/>
          </a:xfrm>
          <a:prstGeom prst="ellipse">
            <a:avLst/>
          </a:prstGeom>
          <a:solidFill>
            <a:srgbClr val="0D9488">
              <a:alpha val="25000"/>
            </a:srgbClr>
          </a:solidFill>
          <a:ln/>
        </p:spPr>
        <p:txBody>
          <a:bodyPr/>
          <a:lstStyle/>
          <a:p>
            <a:endParaRPr lang="zh-Hans-HK" altLang="en-US"/>
          </a:p>
        </p:txBody>
      </p:sp>
      <p:sp>
        <p:nvSpPr>
          <p:cNvPr id="3" name="Shape 1"/>
          <p:cNvSpPr/>
          <p:nvPr/>
        </p:nvSpPr>
        <p:spPr>
          <a:xfrm>
            <a:off x="-1371600" y="2560320"/>
            <a:ext cx="3657600" cy="3657600"/>
          </a:xfrm>
          <a:prstGeom prst="ellipse">
            <a:avLst/>
          </a:prstGeom>
          <a:solidFill>
            <a:srgbClr val="0D9488">
              <a:alpha val="18000"/>
            </a:srgbClr>
          </a:solidFill>
          <a:ln/>
        </p:spPr>
        <p:txBody>
          <a:bodyPr/>
          <a:lstStyle/>
          <a:p>
            <a:endParaRPr lang="zh-Hans-HK" altLang="en-US"/>
          </a:p>
        </p:txBody>
      </p:sp>
      <p:sp>
        <p:nvSpPr>
          <p:cNvPr id="4" name="Text 2"/>
          <p:cNvSpPr/>
          <p:nvPr/>
        </p:nvSpPr>
        <p:spPr>
          <a:xfrm>
            <a:off x="731520" y="82296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睡眠健康大数据平台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731520" y="182880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基于 Spark 的全流程睡眠监测与智能诊断系统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31520" y="2468880"/>
            <a:ext cx="3200400" cy="32004"/>
          </a:xfrm>
          <a:prstGeom prst="rect">
            <a:avLst/>
          </a:prstGeom>
          <a:solidFill>
            <a:srgbClr val="E76F51"/>
          </a:solidFill>
          <a:ln/>
        </p:spPr>
        <p:txBody>
          <a:bodyPr/>
          <a:lstStyle/>
          <a:p>
            <a:endParaRPr lang="zh-Hans-HK" altLang="en-US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2743200"/>
          <a:ext cx="6217920" cy="1920240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4B8A6"/>
                          </a:solidFill>
                        </a:rPr>
                        <a:t>项目组成员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4B8A6"/>
                          </a:solidFill>
                        </a:rPr>
                        <a:t>学号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4B8A6"/>
                          </a:solidFill>
                        </a:rPr>
                        <a:t>姓名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4B8A6"/>
                          </a:solidFill>
                        </a:rPr>
                        <a:t>班级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20235106123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赵国旭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大数据1班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20235106101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王宛强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大数据1班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20235106102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杜心浩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大数据1班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20235106103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白天航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大数据1班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20235106104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李定晨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大数据1班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4B8A6"/>
                          </a:solidFill>
                        </a:rPr>
                        <a:t>指导教师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尚旭鹏、彭可可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731520" y="466344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答辩人：第四组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0" y="443484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年 7 月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64D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汇报目录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1371600" cy="32004"/>
          </a:xfrm>
          <a:prstGeom prst="rect">
            <a:avLst/>
          </a:prstGeom>
          <a:solidFill>
            <a:srgbClr val="E76F51"/>
          </a:solidFill>
          <a:ln/>
        </p:spPr>
        <p:txBody>
          <a:bodyPr/>
          <a:lstStyle/>
          <a:p>
            <a:endParaRPr lang="zh-Hans-HK" altLang="en-US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38912" cy="438912"/>
          </a:xfrm>
          <a:prstGeom prst="ellipse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zh-Hans-HK" altLang="en-US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87552" y="117043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项目背景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87552" y="144475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研究背景、数据来源与项目目标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606040" y="1188720"/>
            <a:ext cx="438912" cy="438912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zh-Hans-HK" altLang="en-US"/>
          </a:p>
        </p:txBody>
      </p:sp>
      <p:sp>
        <p:nvSpPr>
          <p:cNvPr id="9" name="Text 7"/>
          <p:cNvSpPr/>
          <p:nvPr/>
        </p:nvSpPr>
        <p:spPr>
          <a:xfrm>
            <a:off x="2606040" y="118872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136392" y="117043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技术架构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136392" y="144475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分布式集群架构与核心技术栈选型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754880" y="1188720"/>
            <a:ext cx="438912" cy="438912"/>
          </a:xfrm>
          <a:prstGeom prst="ellipse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zh-Hans-HK" altLang="en-US"/>
          </a:p>
        </p:txBody>
      </p:sp>
      <p:sp>
        <p:nvSpPr>
          <p:cNvPr id="13" name="Text 11"/>
          <p:cNvSpPr/>
          <p:nvPr/>
        </p:nvSpPr>
        <p:spPr>
          <a:xfrm>
            <a:off x="4754880" y="118872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285232" y="117043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需求分析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285232" y="144475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用户角色、业务痛点与功能/非功能需求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903720" y="1188720"/>
            <a:ext cx="438912" cy="438912"/>
          </a:xfrm>
          <a:prstGeom prst="ellipse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zh-Hans-HK" altLang="en-US"/>
          </a:p>
        </p:txBody>
      </p:sp>
      <p:sp>
        <p:nvSpPr>
          <p:cNvPr id="17" name="Text 15"/>
          <p:cNvSpPr/>
          <p:nvPr/>
        </p:nvSpPr>
        <p:spPr>
          <a:xfrm>
            <a:off x="6903720" y="118872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434072" y="117043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系统设计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434072" y="144475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数仓分层建模、ETL流程与机器学习模型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57200" y="3017520"/>
            <a:ext cx="438912" cy="438912"/>
          </a:xfrm>
          <a:prstGeom prst="ellipse">
            <a:avLst/>
          </a:prstGeom>
          <a:solidFill>
            <a:srgbClr val="E76F51"/>
          </a:solidFill>
          <a:ln/>
        </p:spPr>
        <p:txBody>
          <a:bodyPr/>
          <a:lstStyle/>
          <a:p>
            <a:endParaRPr lang="zh-Hans-HK" altLang="en-US"/>
          </a:p>
        </p:txBody>
      </p:sp>
      <p:sp>
        <p:nvSpPr>
          <p:cNvPr id="21" name="Text 19"/>
          <p:cNvSpPr/>
          <p:nvPr/>
        </p:nvSpPr>
        <p:spPr>
          <a:xfrm>
            <a:off x="457200" y="301752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87552" y="299923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系统实现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987552" y="327355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五大可视化大屏与AI智能诊断助手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606040" y="3017520"/>
            <a:ext cx="438912" cy="438912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zh-Hans-HK" altLang="en-US"/>
          </a:p>
        </p:txBody>
      </p:sp>
      <p:sp>
        <p:nvSpPr>
          <p:cNvPr id="25" name="Text 23"/>
          <p:cNvSpPr/>
          <p:nvPr/>
        </p:nvSpPr>
        <p:spPr>
          <a:xfrm>
            <a:off x="2606040" y="301752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06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3136392" y="299923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系统亮点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3136392" y="327355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PMML推理、大模型融合、3D聚类、双引擎存储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754880" y="3017520"/>
            <a:ext cx="438912" cy="438912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zh-Hans-HK" altLang="en-US"/>
          </a:p>
        </p:txBody>
      </p:sp>
      <p:sp>
        <p:nvSpPr>
          <p:cNvPr id="29" name="Text 27"/>
          <p:cNvSpPr/>
          <p:nvPr/>
        </p:nvSpPr>
        <p:spPr>
          <a:xfrm>
            <a:off x="4754880" y="301752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07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5285232" y="299923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总结与展望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5285232" y="327355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项目成果总结与未来优化方向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903720" y="3017520"/>
            <a:ext cx="438912" cy="438912"/>
          </a:xfrm>
          <a:prstGeom prst="ellipse">
            <a:avLst/>
          </a:prstGeom>
          <a:solidFill>
            <a:srgbClr val="E76F51"/>
          </a:solidFill>
          <a:ln/>
        </p:spPr>
        <p:txBody>
          <a:bodyPr/>
          <a:lstStyle/>
          <a:p>
            <a:endParaRPr lang="zh-Hans-HK" altLang="en-US"/>
          </a:p>
        </p:txBody>
      </p:sp>
      <p:sp>
        <p:nvSpPr>
          <p:cNvPr id="33" name="Text 31"/>
          <p:cNvSpPr/>
          <p:nvPr/>
        </p:nvSpPr>
        <p:spPr>
          <a:xfrm>
            <a:off x="6903720" y="301752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08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7434072" y="299923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小组分工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7434072" y="327355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团队成员职责与贡献说明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064D5C"/>
          </a:solidFill>
          <a:ln/>
        </p:spPr>
        <p:txBody>
          <a:bodyPr/>
          <a:lstStyle/>
          <a:p>
            <a:endParaRPr lang="zh-Hans-HK" altLang="en-US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第一章·项目背景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201168"/>
            <a:ext cx="7772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804672"/>
            <a:ext cx="54864" cy="320040"/>
          </a:xfrm>
          <a:prstGeom prst="rect">
            <a:avLst/>
          </a:prstGeom>
          <a:solidFill>
            <a:srgbClr val="E76F51"/>
          </a:solidFill>
          <a:ln/>
        </p:spPr>
        <p:txBody>
          <a:bodyPr/>
          <a:lstStyle/>
          <a:p>
            <a:endParaRPr lang="zh-Hans-HK" altLang="en-US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4572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64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研究背景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1417320"/>
            <a:ext cx="4572000" cy="621792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Hans-HK" altLang="en-US"/>
          </a:p>
        </p:txBody>
      </p:sp>
      <p:sp>
        <p:nvSpPr>
          <p:cNvPr id="8" name="Shape 6"/>
          <p:cNvSpPr/>
          <p:nvPr/>
        </p:nvSpPr>
        <p:spPr>
          <a:xfrm>
            <a:off x="457200" y="1417320"/>
            <a:ext cx="54864" cy="62179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zh-Hans-HK" altLang="en-US"/>
          </a:p>
        </p:txBody>
      </p:sp>
      <p:sp>
        <p:nvSpPr>
          <p:cNvPr id="9" name="Shape 7"/>
          <p:cNvSpPr/>
          <p:nvPr/>
        </p:nvSpPr>
        <p:spPr>
          <a:xfrm>
            <a:off x="640080" y="1545336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zh-Hans-HK" altLang="en-US"/>
          </a:p>
        </p:txBody>
      </p:sp>
      <p:sp>
        <p:nvSpPr>
          <p:cNvPr id="10" name="Text 8"/>
          <p:cNvSpPr/>
          <p:nvPr/>
        </p:nvSpPr>
        <p:spPr>
          <a:xfrm>
            <a:off x="640080" y="15453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143000" y="1453896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睡眠障碍已成全球公共卫生问题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43000" y="1709928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中国超 3 亿人存在睡眠障碍，老年人及亚健康人群尤为突出。失眠、睡眠呼吸暂停等疾病发病率持续上升。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" y="2130552"/>
            <a:ext cx="4572000" cy="621792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Hans-HK" altLang="en-US"/>
          </a:p>
        </p:txBody>
      </p:sp>
      <p:sp>
        <p:nvSpPr>
          <p:cNvPr id="14" name="Shape 12"/>
          <p:cNvSpPr/>
          <p:nvPr/>
        </p:nvSpPr>
        <p:spPr>
          <a:xfrm>
            <a:off x="457200" y="2130552"/>
            <a:ext cx="54864" cy="62179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zh-Hans-HK" altLang="en-US"/>
          </a:p>
        </p:txBody>
      </p:sp>
      <p:sp>
        <p:nvSpPr>
          <p:cNvPr id="15" name="Shape 13"/>
          <p:cNvSpPr/>
          <p:nvPr/>
        </p:nvSpPr>
        <p:spPr>
          <a:xfrm>
            <a:off x="640080" y="2258568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zh-Hans-HK" altLang="en-US"/>
          </a:p>
        </p:txBody>
      </p:sp>
      <p:sp>
        <p:nvSpPr>
          <p:cNvPr id="16" name="Text 14"/>
          <p:cNvSpPr/>
          <p:nvPr/>
        </p:nvSpPr>
        <p:spPr>
          <a:xfrm>
            <a:off x="640080" y="22585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143000" y="2167128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智能可穿戴设备快速普及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143000" y="2423160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智能手表可连续采集心率、血氧、体动等多维生理数据，为大规模低成本睡眠监测提供了新的数据源。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7200" y="2843784"/>
            <a:ext cx="4572000" cy="621792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Hans-HK" altLang="en-US"/>
          </a:p>
        </p:txBody>
      </p:sp>
      <p:sp>
        <p:nvSpPr>
          <p:cNvPr id="20" name="Shape 18"/>
          <p:cNvSpPr/>
          <p:nvPr/>
        </p:nvSpPr>
        <p:spPr>
          <a:xfrm>
            <a:off x="457200" y="2843784"/>
            <a:ext cx="54864" cy="62179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zh-Hans-HK" altLang="en-US"/>
          </a:p>
        </p:txBody>
      </p:sp>
      <p:sp>
        <p:nvSpPr>
          <p:cNvPr id="21" name="Shape 19"/>
          <p:cNvSpPr/>
          <p:nvPr/>
        </p:nvSpPr>
        <p:spPr>
          <a:xfrm>
            <a:off x="640080" y="2971800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zh-Hans-HK" altLang="en-US"/>
          </a:p>
        </p:txBody>
      </p:sp>
      <p:sp>
        <p:nvSpPr>
          <p:cNvPr id="22" name="Text 20"/>
          <p:cNvSpPr/>
          <p:nvPr/>
        </p:nvSpPr>
        <p:spPr>
          <a:xfrm>
            <a:off x="640080" y="2971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143000" y="2880360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传统睡眠分析产品存在缺陷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143000" y="3136392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多数产品仅展示孤立指标，缺乏从数据清洗、数仓建模、机器学习到可视化诊断的完整闭环链路。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57200" y="3557016"/>
            <a:ext cx="4572000" cy="621792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Hans-HK" altLang="en-US"/>
          </a:p>
        </p:txBody>
      </p:sp>
      <p:sp>
        <p:nvSpPr>
          <p:cNvPr id="26" name="Shape 24"/>
          <p:cNvSpPr/>
          <p:nvPr/>
        </p:nvSpPr>
        <p:spPr>
          <a:xfrm>
            <a:off x="457200" y="3557016"/>
            <a:ext cx="54864" cy="62179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zh-Hans-HK" altLang="en-US"/>
          </a:p>
        </p:txBody>
      </p:sp>
      <p:sp>
        <p:nvSpPr>
          <p:cNvPr id="27" name="Shape 25"/>
          <p:cNvSpPr/>
          <p:nvPr/>
        </p:nvSpPr>
        <p:spPr>
          <a:xfrm>
            <a:off x="640080" y="3685032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zh-Hans-HK" altLang="en-US"/>
          </a:p>
        </p:txBody>
      </p:sp>
      <p:sp>
        <p:nvSpPr>
          <p:cNvPr id="28" name="Text 26"/>
          <p:cNvSpPr/>
          <p:nvPr/>
        </p:nvSpPr>
        <p:spPr>
          <a:xfrm>
            <a:off x="640080" y="36850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1143000" y="3593592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健康数据孤岛问题严重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143000" y="3849624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不同品牌设备数据互不打通，缺少统一的大数据分析平台进行人群健康风险预警与个性化干预。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394960" y="1051560"/>
            <a:ext cx="3657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64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数据来源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5394960" y="1417320"/>
            <a:ext cx="338328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Hans-HK" altLang="en-US"/>
          </a:p>
        </p:txBody>
      </p:sp>
      <p:sp>
        <p:nvSpPr>
          <p:cNvPr id="33" name="Shape 31"/>
          <p:cNvSpPr/>
          <p:nvPr/>
        </p:nvSpPr>
        <p:spPr>
          <a:xfrm>
            <a:off x="5394960" y="1417320"/>
            <a:ext cx="3383280" cy="384048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zh-Hans-HK" altLang="en-US" dirty="0"/>
          </a:p>
        </p:txBody>
      </p:sp>
      <p:sp>
        <p:nvSpPr>
          <p:cNvPr id="34" name="Text 32"/>
          <p:cNvSpPr/>
          <p:nvPr/>
        </p:nvSpPr>
        <p:spPr>
          <a:xfrm>
            <a:off x="5577840" y="141732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Smartwatch Sleep Tracking Dataset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577840" y="190195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数据量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492240" y="1901952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20,000+ 条记录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577840" y="2139696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时间跨度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492240" y="2139696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2018 – 2025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577840" y="2377440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特征维度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492240" y="2377440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40+ (心率/血氧/打鼾/步数等)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577840" y="2615184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数据来源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492240" y="2615184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kaggle.com 公开数据集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5394960" y="3017520"/>
            <a:ext cx="3657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64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项目目标</a:t>
            </a:r>
            <a:endParaRPr lang="en-US" sz="1500" dirty="0"/>
          </a:p>
        </p:txBody>
      </p:sp>
      <p:sp>
        <p:nvSpPr>
          <p:cNvPr id="44" name="Text 42"/>
          <p:cNvSpPr/>
          <p:nvPr/>
        </p:nvSpPr>
        <p:spPr>
          <a:xfrm>
            <a:off x="5577840" y="3364992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构建贴源上传→数仓建模→分布式计算→机器学习→大屏展示→AI问诊的一站式大数据平台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5577840" y="374904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实现真实分布式集群环境下的全流程数据处理与模型训练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5577840" y="4133088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提供具备工业级落地价值的 PMML 模型推理与个性化 AI 诊断服务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457200" y="4526280"/>
            <a:ext cx="8229600" cy="411480"/>
          </a:xfrm>
          <a:prstGeom prst="rect">
            <a:avLst/>
          </a:prstGeom>
          <a:solidFill>
            <a:srgbClr val="064D5C"/>
          </a:solidFill>
          <a:ln/>
        </p:spPr>
        <p:txBody>
          <a:bodyPr/>
          <a:lstStyle/>
          <a:p>
            <a:endParaRPr lang="zh-Hans-HK" altLang="en-US"/>
          </a:p>
        </p:txBody>
      </p:sp>
      <p:sp>
        <p:nvSpPr>
          <p:cNvPr id="48" name="Text 46"/>
          <p:cNvSpPr/>
          <p:nvPr/>
        </p:nvSpPr>
        <p:spPr>
          <a:xfrm>
            <a:off x="640080" y="452628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关键词：分布式集群 | 数仓建模 | Spark MLlib | PMML 模型推理 | ECharts 可视化 | DeepSeek 大模型 | CBT-I 睡眠干预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064D5C"/>
          </a:solidFill>
          <a:ln/>
        </p:spPr>
        <p:txBody>
          <a:bodyPr/>
          <a:lstStyle/>
          <a:p>
            <a:endParaRPr lang="zh-Hans-HK" altLang="en-US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第二章·技术架构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201168"/>
            <a:ext cx="7772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804672"/>
            <a:ext cx="54864" cy="320040"/>
          </a:xfrm>
          <a:prstGeom prst="rect">
            <a:avLst/>
          </a:prstGeom>
          <a:solidFill>
            <a:srgbClr val="E76F51"/>
          </a:solidFill>
          <a:ln/>
        </p:spPr>
        <p:txBody>
          <a:bodyPr/>
          <a:lstStyle/>
          <a:p>
            <a:endParaRPr lang="zh-Hans-HK" altLang="en-US"/>
          </a:p>
        </p:txBody>
      </p:sp>
      <p:sp>
        <p:nvSpPr>
          <p:cNvPr id="6" name="Shape 4"/>
          <p:cNvSpPr/>
          <p:nvPr/>
        </p:nvSpPr>
        <p:spPr>
          <a:xfrm>
            <a:off x="365760" y="1051560"/>
            <a:ext cx="5029200" cy="4114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Hans-HK" altLang="en-US"/>
          </a:p>
        </p:txBody>
      </p:sp>
      <p:sp>
        <p:nvSpPr>
          <p:cNvPr id="7" name="Shape 5"/>
          <p:cNvSpPr/>
          <p:nvPr/>
        </p:nvSpPr>
        <p:spPr>
          <a:xfrm>
            <a:off x="365760" y="1051560"/>
            <a:ext cx="54864" cy="41148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zh-Hans-HK" altLang="en-US"/>
          </a:p>
        </p:txBody>
      </p:sp>
      <p:sp>
        <p:nvSpPr>
          <p:cNvPr id="8" name="Shape 6"/>
          <p:cNvSpPr/>
          <p:nvPr/>
        </p:nvSpPr>
        <p:spPr>
          <a:xfrm>
            <a:off x="365760" y="1051560"/>
            <a:ext cx="1371600" cy="41148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zh-Hans-HK" altLang="en-US"/>
          </a:p>
        </p:txBody>
      </p:sp>
      <p:sp>
        <p:nvSpPr>
          <p:cNvPr id="9" name="Text 7"/>
          <p:cNvSpPr/>
          <p:nvPr/>
        </p:nvSpPr>
        <p:spPr>
          <a:xfrm>
            <a:off x="365760" y="105156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数据采集层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874520" y="1078992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/ 智能手表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874520" y="1271016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20,000+ 条，40+ 特征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1828800" y="139903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1527048"/>
            <a:ext cx="5029200" cy="4114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Hans-HK" altLang="en-US"/>
          </a:p>
        </p:txBody>
      </p:sp>
      <p:sp>
        <p:nvSpPr>
          <p:cNvPr id="14" name="Shape 12"/>
          <p:cNvSpPr/>
          <p:nvPr/>
        </p:nvSpPr>
        <p:spPr>
          <a:xfrm>
            <a:off x="365760" y="1527048"/>
            <a:ext cx="54864" cy="411480"/>
          </a:xfrm>
          <a:prstGeom prst="rect">
            <a:avLst/>
          </a:prstGeom>
          <a:solidFill>
            <a:srgbClr val="0284C7"/>
          </a:solidFill>
          <a:ln/>
        </p:spPr>
        <p:txBody>
          <a:bodyPr/>
          <a:lstStyle/>
          <a:p>
            <a:endParaRPr lang="zh-Hans-HK" altLang="en-US"/>
          </a:p>
        </p:txBody>
      </p:sp>
      <p:sp>
        <p:nvSpPr>
          <p:cNvPr id="15" name="Shape 13"/>
          <p:cNvSpPr/>
          <p:nvPr/>
        </p:nvSpPr>
        <p:spPr>
          <a:xfrm>
            <a:off x="365760" y="1527048"/>
            <a:ext cx="1371600" cy="411480"/>
          </a:xfrm>
          <a:prstGeom prst="rect">
            <a:avLst/>
          </a:prstGeom>
          <a:solidFill>
            <a:srgbClr val="0284C7"/>
          </a:solidFill>
          <a:ln/>
        </p:spPr>
        <p:txBody>
          <a:bodyPr/>
          <a:lstStyle/>
          <a:p>
            <a:endParaRPr lang="zh-Hans-HK" altLang="en-US"/>
          </a:p>
        </p:txBody>
      </p:sp>
      <p:sp>
        <p:nvSpPr>
          <p:cNvPr id="16" name="Text 14"/>
          <p:cNvSpPr/>
          <p:nvPr/>
        </p:nvSpPr>
        <p:spPr>
          <a:xfrm>
            <a:off x="365760" y="1527048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分布式存储层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874520" y="1554480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HDFS (3 DataNode)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874520" y="1746504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三副本冗余，NameNode 管理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1828800" y="187452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2002536"/>
            <a:ext cx="5029200" cy="4114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Hans-HK" altLang="en-US"/>
          </a:p>
        </p:txBody>
      </p:sp>
      <p:sp>
        <p:nvSpPr>
          <p:cNvPr id="21" name="Shape 19"/>
          <p:cNvSpPr/>
          <p:nvPr/>
        </p:nvSpPr>
        <p:spPr>
          <a:xfrm>
            <a:off x="365760" y="2002536"/>
            <a:ext cx="54864" cy="41148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zh-Hans-HK" altLang="en-US"/>
          </a:p>
        </p:txBody>
      </p:sp>
      <p:sp>
        <p:nvSpPr>
          <p:cNvPr id="22" name="Shape 20"/>
          <p:cNvSpPr/>
          <p:nvPr/>
        </p:nvSpPr>
        <p:spPr>
          <a:xfrm>
            <a:off x="365760" y="2002536"/>
            <a:ext cx="1371600" cy="41148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zh-Hans-HK" altLang="en-US"/>
          </a:p>
        </p:txBody>
      </p:sp>
      <p:sp>
        <p:nvSpPr>
          <p:cNvPr id="23" name="Text 21"/>
          <p:cNvSpPr/>
          <p:nvPr/>
        </p:nvSpPr>
        <p:spPr>
          <a:xfrm>
            <a:off x="365760" y="2002536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数据仓库层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874520" y="2029968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Hive 离线数仓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874520" y="2221992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ODS → DWD → DWS → ADS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1828800" y="2350008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65760" y="2478024"/>
            <a:ext cx="5029200" cy="4114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Hans-HK" altLang="en-US"/>
          </a:p>
        </p:txBody>
      </p:sp>
      <p:sp>
        <p:nvSpPr>
          <p:cNvPr id="28" name="Shape 26"/>
          <p:cNvSpPr/>
          <p:nvPr/>
        </p:nvSpPr>
        <p:spPr>
          <a:xfrm>
            <a:off x="365760" y="2478024"/>
            <a:ext cx="54864" cy="411480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zh-Hans-HK" altLang="en-US"/>
          </a:p>
        </p:txBody>
      </p:sp>
      <p:sp>
        <p:nvSpPr>
          <p:cNvPr id="29" name="Shape 27"/>
          <p:cNvSpPr/>
          <p:nvPr/>
        </p:nvSpPr>
        <p:spPr>
          <a:xfrm>
            <a:off x="365760" y="2478024"/>
            <a:ext cx="1371600" cy="411480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zh-Hans-HK" altLang="en-US"/>
          </a:p>
        </p:txBody>
      </p:sp>
      <p:sp>
        <p:nvSpPr>
          <p:cNvPr id="30" name="Text 28"/>
          <p:cNvSpPr/>
          <p:nvPr/>
        </p:nvSpPr>
        <p:spPr>
          <a:xfrm>
            <a:off x="365760" y="2478024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分布式计算层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874520" y="2505456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 (2 Worker)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874520" y="2697480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并行计算 + ML 训练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1828800" y="2825496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65760" y="2953512"/>
            <a:ext cx="5029200" cy="4114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Hans-HK" altLang="en-US"/>
          </a:p>
        </p:txBody>
      </p:sp>
      <p:sp>
        <p:nvSpPr>
          <p:cNvPr id="35" name="Shape 33"/>
          <p:cNvSpPr/>
          <p:nvPr/>
        </p:nvSpPr>
        <p:spPr>
          <a:xfrm>
            <a:off x="365760" y="2953512"/>
            <a:ext cx="54864" cy="411480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zh-Hans-HK" altLang="en-US"/>
          </a:p>
        </p:txBody>
      </p:sp>
      <p:sp>
        <p:nvSpPr>
          <p:cNvPr id="36" name="Shape 34"/>
          <p:cNvSpPr/>
          <p:nvPr/>
        </p:nvSpPr>
        <p:spPr>
          <a:xfrm>
            <a:off x="365760" y="2953512"/>
            <a:ext cx="1371600" cy="411480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zh-Hans-HK" altLang="en-US"/>
          </a:p>
        </p:txBody>
      </p:sp>
      <p:sp>
        <p:nvSpPr>
          <p:cNvPr id="37" name="Text 35"/>
          <p:cNvSpPr/>
          <p:nvPr/>
        </p:nvSpPr>
        <p:spPr>
          <a:xfrm>
            <a:off x="365760" y="2953512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业务服务层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1874520" y="2980944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1874520" y="3172968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RESTful API + PMML 推理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1828800" y="3300984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365760" y="3429000"/>
            <a:ext cx="5029200" cy="4114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Hans-HK" altLang="en-US"/>
          </a:p>
        </p:txBody>
      </p:sp>
      <p:sp>
        <p:nvSpPr>
          <p:cNvPr id="42" name="Shape 40"/>
          <p:cNvSpPr/>
          <p:nvPr/>
        </p:nvSpPr>
        <p:spPr>
          <a:xfrm>
            <a:off x="365760" y="3429000"/>
            <a:ext cx="54864" cy="411480"/>
          </a:xfrm>
          <a:prstGeom prst="rect">
            <a:avLst/>
          </a:prstGeom>
          <a:solidFill>
            <a:srgbClr val="E76F51"/>
          </a:solidFill>
          <a:ln/>
        </p:spPr>
        <p:txBody>
          <a:bodyPr/>
          <a:lstStyle/>
          <a:p>
            <a:endParaRPr lang="zh-Hans-HK" altLang="en-US"/>
          </a:p>
        </p:txBody>
      </p:sp>
      <p:sp>
        <p:nvSpPr>
          <p:cNvPr id="43" name="Shape 41"/>
          <p:cNvSpPr/>
          <p:nvPr/>
        </p:nvSpPr>
        <p:spPr>
          <a:xfrm>
            <a:off x="365760" y="3429000"/>
            <a:ext cx="1371600" cy="411480"/>
          </a:xfrm>
          <a:prstGeom prst="rect">
            <a:avLst/>
          </a:prstGeom>
          <a:solidFill>
            <a:srgbClr val="E76F51"/>
          </a:solidFill>
          <a:ln/>
        </p:spPr>
        <p:txBody>
          <a:bodyPr/>
          <a:lstStyle/>
          <a:p>
            <a:endParaRPr lang="zh-Hans-HK" altLang="en-US"/>
          </a:p>
        </p:txBody>
      </p:sp>
      <p:sp>
        <p:nvSpPr>
          <p:cNvPr id="44" name="Text 42"/>
          <p:cNvSpPr/>
          <p:nvPr/>
        </p:nvSpPr>
        <p:spPr>
          <a:xfrm>
            <a:off x="365760" y="342900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数据持久层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1874520" y="3456432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+ ES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1874520" y="3648456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结构化统计 + 极速检索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1828800" y="377647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365760" y="3904488"/>
            <a:ext cx="5029200" cy="4114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Hans-HK" altLang="en-US"/>
          </a:p>
        </p:txBody>
      </p:sp>
      <p:sp>
        <p:nvSpPr>
          <p:cNvPr id="49" name="Shape 47"/>
          <p:cNvSpPr/>
          <p:nvPr/>
        </p:nvSpPr>
        <p:spPr>
          <a:xfrm>
            <a:off x="365760" y="3904488"/>
            <a:ext cx="54864" cy="41148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zh-Hans-HK" altLang="en-US"/>
          </a:p>
        </p:txBody>
      </p:sp>
      <p:sp>
        <p:nvSpPr>
          <p:cNvPr id="50" name="Shape 48"/>
          <p:cNvSpPr/>
          <p:nvPr/>
        </p:nvSpPr>
        <p:spPr>
          <a:xfrm>
            <a:off x="365760" y="3904488"/>
            <a:ext cx="1371600" cy="41148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zh-Hans-HK" altLang="en-US"/>
          </a:p>
        </p:txBody>
      </p:sp>
      <p:sp>
        <p:nvSpPr>
          <p:cNvPr id="51" name="Text 49"/>
          <p:cNvSpPr/>
          <p:nvPr/>
        </p:nvSpPr>
        <p:spPr>
          <a:xfrm>
            <a:off x="365760" y="3904488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可视化展示层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1874520" y="3931920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Vue3 + ECharts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1874520" y="4123944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大屏 + 3D 聚类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5760720" y="1051560"/>
            <a:ext cx="3200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64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核心技术栈</a:t>
            </a:r>
            <a:endParaRPr lang="en-US" sz="1500" dirty="0"/>
          </a:p>
        </p:txBody>
      </p:sp>
      <p:sp>
        <p:nvSpPr>
          <p:cNvPr id="55" name="Shape 53"/>
          <p:cNvSpPr/>
          <p:nvPr/>
        </p:nvSpPr>
        <p:spPr>
          <a:xfrm>
            <a:off x="5760720" y="1417320"/>
            <a:ext cx="3017520" cy="804672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Hans-HK" altLang="en-US"/>
          </a:p>
        </p:txBody>
      </p:sp>
      <p:sp>
        <p:nvSpPr>
          <p:cNvPr id="56" name="Shape 54"/>
          <p:cNvSpPr/>
          <p:nvPr/>
        </p:nvSpPr>
        <p:spPr>
          <a:xfrm>
            <a:off x="5760720" y="1417320"/>
            <a:ext cx="54864" cy="804672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zh-Hans-HK" altLang="en-US"/>
          </a:p>
        </p:txBody>
      </p:sp>
      <p:sp>
        <p:nvSpPr>
          <p:cNvPr id="57" name="Shape 55"/>
          <p:cNvSpPr/>
          <p:nvPr/>
        </p:nvSpPr>
        <p:spPr>
          <a:xfrm>
            <a:off x="5943600" y="1481328"/>
            <a:ext cx="640080" cy="219456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zh-Hans-HK" altLang="en-US"/>
          </a:p>
        </p:txBody>
      </p:sp>
      <p:sp>
        <p:nvSpPr>
          <p:cNvPr id="58" name="Text 56"/>
          <p:cNvSpPr/>
          <p:nvPr/>
        </p:nvSpPr>
        <p:spPr>
          <a:xfrm>
            <a:off x="5943600" y="1481328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大数据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5943600" y="176479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Hadoop 3.2.1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7406640" y="176479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 3.5.6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5943600" y="196596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Hive 2.3.2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7406640" y="196596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5760720" y="2331720"/>
            <a:ext cx="3017520" cy="804672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Hans-HK" altLang="en-US"/>
          </a:p>
        </p:txBody>
      </p:sp>
      <p:sp>
        <p:nvSpPr>
          <p:cNvPr id="64" name="Shape 62"/>
          <p:cNvSpPr/>
          <p:nvPr/>
        </p:nvSpPr>
        <p:spPr>
          <a:xfrm>
            <a:off x="5760720" y="2331720"/>
            <a:ext cx="54864" cy="804672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zh-Hans-HK" altLang="en-US"/>
          </a:p>
        </p:txBody>
      </p:sp>
      <p:sp>
        <p:nvSpPr>
          <p:cNvPr id="65" name="Shape 63"/>
          <p:cNvSpPr/>
          <p:nvPr/>
        </p:nvSpPr>
        <p:spPr>
          <a:xfrm>
            <a:off x="5943600" y="2395728"/>
            <a:ext cx="640080" cy="219456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zh-Hans-HK" altLang="en-US"/>
          </a:p>
        </p:txBody>
      </p:sp>
      <p:sp>
        <p:nvSpPr>
          <p:cNvPr id="66" name="Text 64"/>
          <p:cNvSpPr/>
          <p:nvPr/>
        </p:nvSpPr>
        <p:spPr>
          <a:xfrm>
            <a:off x="5943600" y="2395728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后端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5943600" y="267919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2.7</a:t>
            </a:r>
            <a:endParaRPr lang="en-US" sz="900" dirty="0"/>
          </a:p>
        </p:txBody>
      </p:sp>
      <p:sp>
        <p:nvSpPr>
          <p:cNvPr id="68" name="Text 66"/>
          <p:cNvSpPr/>
          <p:nvPr/>
        </p:nvSpPr>
        <p:spPr>
          <a:xfrm>
            <a:off x="7406640" y="267919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MyBatis-Plus</a:t>
            </a:r>
            <a:endParaRPr lang="en-US" sz="900" dirty="0"/>
          </a:p>
        </p:txBody>
      </p:sp>
      <p:sp>
        <p:nvSpPr>
          <p:cNvPr id="69" name="Text 67"/>
          <p:cNvSpPr/>
          <p:nvPr/>
        </p:nvSpPr>
        <p:spPr>
          <a:xfrm>
            <a:off x="5943600" y="288036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PMML 4.4</a:t>
            </a:r>
            <a:endParaRPr lang="en-US" sz="900" dirty="0"/>
          </a:p>
        </p:txBody>
      </p:sp>
      <p:sp>
        <p:nvSpPr>
          <p:cNvPr id="70" name="Text 68"/>
          <p:cNvSpPr/>
          <p:nvPr/>
        </p:nvSpPr>
        <p:spPr>
          <a:xfrm>
            <a:off x="7406640" y="288036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鉴权</a:t>
            </a:r>
            <a:endParaRPr lang="en-US" sz="900" dirty="0"/>
          </a:p>
        </p:txBody>
      </p:sp>
      <p:sp>
        <p:nvSpPr>
          <p:cNvPr id="71" name="Shape 69"/>
          <p:cNvSpPr/>
          <p:nvPr/>
        </p:nvSpPr>
        <p:spPr>
          <a:xfrm>
            <a:off x="5760720" y="3246120"/>
            <a:ext cx="3017520" cy="804672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Hans-HK" altLang="en-US"/>
          </a:p>
        </p:txBody>
      </p:sp>
      <p:sp>
        <p:nvSpPr>
          <p:cNvPr id="72" name="Shape 70"/>
          <p:cNvSpPr/>
          <p:nvPr/>
        </p:nvSpPr>
        <p:spPr>
          <a:xfrm>
            <a:off x="5760720" y="3246120"/>
            <a:ext cx="54864" cy="804672"/>
          </a:xfrm>
          <a:prstGeom prst="rect">
            <a:avLst/>
          </a:prstGeom>
          <a:solidFill>
            <a:srgbClr val="E76F51"/>
          </a:solidFill>
          <a:ln/>
        </p:spPr>
        <p:txBody>
          <a:bodyPr/>
          <a:lstStyle/>
          <a:p>
            <a:endParaRPr lang="zh-Hans-HK" altLang="en-US"/>
          </a:p>
        </p:txBody>
      </p:sp>
      <p:sp>
        <p:nvSpPr>
          <p:cNvPr id="73" name="Shape 71"/>
          <p:cNvSpPr/>
          <p:nvPr/>
        </p:nvSpPr>
        <p:spPr>
          <a:xfrm>
            <a:off x="5943600" y="3310128"/>
            <a:ext cx="640080" cy="219456"/>
          </a:xfrm>
          <a:prstGeom prst="rect">
            <a:avLst/>
          </a:prstGeom>
          <a:solidFill>
            <a:srgbClr val="E76F51"/>
          </a:solidFill>
          <a:ln/>
        </p:spPr>
        <p:txBody>
          <a:bodyPr/>
          <a:lstStyle/>
          <a:p>
            <a:endParaRPr lang="zh-Hans-HK" altLang="en-US"/>
          </a:p>
        </p:txBody>
      </p:sp>
      <p:sp>
        <p:nvSpPr>
          <p:cNvPr id="74" name="Text 72"/>
          <p:cNvSpPr/>
          <p:nvPr/>
        </p:nvSpPr>
        <p:spPr>
          <a:xfrm>
            <a:off x="5943600" y="3310128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前端</a:t>
            </a:r>
            <a:endParaRPr lang="en-US" sz="900" dirty="0"/>
          </a:p>
        </p:txBody>
      </p:sp>
      <p:sp>
        <p:nvSpPr>
          <p:cNvPr id="75" name="Text 73"/>
          <p:cNvSpPr/>
          <p:nvPr/>
        </p:nvSpPr>
        <p:spPr>
          <a:xfrm>
            <a:off x="5943600" y="359359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3 + Vite 5</a:t>
            </a:r>
            <a:endParaRPr lang="en-US" sz="900" dirty="0"/>
          </a:p>
        </p:txBody>
      </p:sp>
      <p:sp>
        <p:nvSpPr>
          <p:cNvPr id="76" name="Text 74"/>
          <p:cNvSpPr/>
          <p:nvPr/>
        </p:nvSpPr>
        <p:spPr>
          <a:xfrm>
            <a:off x="7406640" y="359359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ECharts 5.5.0</a:t>
            </a:r>
            <a:endParaRPr lang="en-US" sz="900" dirty="0"/>
          </a:p>
        </p:txBody>
      </p:sp>
      <p:sp>
        <p:nvSpPr>
          <p:cNvPr id="77" name="Text 75"/>
          <p:cNvSpPr/>
          <p:nvPr/>
        </p:nvSpPr>
        <p:spPr>
          <a:xfrm>
            <a:off x="5943600" y="379476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ECharts-GL</a:t>
            </a:r>
            <a:endParaRPr lang="en-US" sz="900" dirty="0"/>
          </a:p>
        </p:txBody>
      </p:sp>
      <p:sp>
        <p:nvSpPr>
          <p:cNvPr id="78" name="Text 76"/>
          <p:cNvSpPr/>
          <p:nvPr/>
        </p:nvSpPr>
        <p:spPr>
          <a:xfrm>
            <a:off x="7406640" y="379476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Axios</a:t>
            </a:r>
            <a:endParaRPr lang="en-US" sz="900" dirty="0"/>
          </a:p>
        </p:txBody>
      </p:sp>
      <p:sp>
        <p:nvSpPr>
          <p:cNvPr id="79" name="Shape 77"/>
          <p:cNvSpPr/>
          <p:nvPr/>
        </p:nvSpPr>
        <p:spPr>
          <a:xfrm>
            <a:off x="5760720" y="4160520"/>
            <a:ext cx="3017520" cy="804672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Hans-HK" altLang="en-US"/>
          </a:p>
        </p:txBody>
      </p:sp>
      <p:sp>
        <p:nvSpPr>
          <p:cNvPr id="80" name="Shape 78"/>
          <p:cNvSpPr/>
          <p:nvPr/>
        </p:nvSpPr>
        <p:spPr>
          <a:xfrm>
            <a:off x="5760720" y="4160520"/>
            <a:ext cx="54864" cy="804672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zh-Hans-HK" altLang="en-US"/>
          </a:p>
        </p:txBody>
      </p:sp>
      <p:sp>
        <p:nvSpPr>
          <p:cNvPr id="81" name="Shape 79"/>
          <p:cNvSpPr/>
          <p:nvPr/>
        </p:nvSpPr>
        <p:spPr>
          <a:xfrm>
            <a:off x="5943600" y="4224528"/>
            <a:ext cx="640080" cy="219456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zh-Hans-HK" altLang="en-US"/>
          </a:p>
        </p:txBody>
      </p:sp>
      <p:sp>
        <p:nvSpPr>
          <p:cNvPr id="82" name="Text 80"/>
          <p:cNvSpPr/>
          <p:nvPr/>
        </p:nvSpPr>
        <p:spPr>
          <a:xfrm>
            <a:off x="5943600" y="4224528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AI/ML</a:t>
            </a:r>
            <a:endParaRPr lang="en-US" sz="900" dirty="0"/>
          </a:p>
        </p:txBody>
      </p:sp>
      <p:sp>
        <p:nvSpPr>
          <p:cNvPr id="83" name="Text 81"/>
          <p:cNvSpPr/>
          <p:nvPr/>
        </p:nvSpPr>
        <p:spPr>
          <a:xfrm>
            <a:off x="5943600" y="450799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900" dirty="0"/>
          </a:p>
        </p:txBody>
      </p:sp>
      <p:sp>
        <p:nvSpPr>
          <p:cNvPr id="84" name="Text 82"/>
          <p:cNvSpPr/>
          <p:nvPr/>
        </p:nvSpPr>
        <p:spPr>
          <a:xfrm>
            <a:off x="7406640" y="450799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KMeans + PCA</a:t>
            </a:r>
            <a:endParaRPr lang="en-US" sz="900" dirty="0"/>
          </a:p>
        </p:txBody>
      </p:sp>
      <p:sp>
        <p:nvSpPr>
          <p:cNvPr id="85" name="Text 83"/>
          <p:cNvSpPr/>
          <p:nvPr/>
        </p:nvSpPr>
        <p:spPr>
          <a:xfrm>
            <a:off x="5943600" y="470916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DeepSeek API</a:t>
            </a:r>
            <a:endParaRPr lang="en-US" sz="900" dirty="0"/>
          </a:p>
        </p:txBody>
      </p:sp>
      <p:sp>
        <p:nvSpPr>
          <p:cNvPr id="86" name="Text 84"/>
          <p:cNvSpPr/>
          <p:nvPr/>
        </p:nvSpPr>
        <p:spPr>
          <a:xfrm>
            <a:off x="7406640" y="470916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Elasticsearch</a:t>
            </a:r>
            <a:endParaRPr lang="en-US" sz="900" dirty="0"/>
          </a:p>
        </p:txBody>
      </p:sp>
      <p:sp>
        <p:nvSpPr>
          <p:cNvPr id="87" name="Shape 85"/>
          <p:cNvSpPr/>
          <p:nvPr/>
        </p:nvSpPr>
        <p:spPr>
          <a:xfrm>
            <a:off x="365760" y="4434840"/>
            <a:ext cx="8412480" cy="502920"/>
          </a:xfrm>
          <a:prstGeom prst="rect">
            <a:avLst/>
          </a:prstGeom>
          <a:solidFill>
            <a:srgbClr val="064D5C"/>
          </a:solidFill>
          <a:ln/>
        </p:spPr>
        <p:txBody>
          <a:bodyPr/>
          <a:lstStyle/>
          <a:p>
            <a:endParaRPr lang="zh-Hans-HK" altLang="en-US"/>
          </a:p>
        </p:txBody>
      </p:sp>
      <p:sp>
        <p:nvSpPr>
          <p:cNvPr id="88" name="Text 86"/>
          <p:cNvSpPr/>
          <p:nvPr/>
        </p:nvSpPr>
        <p:spPr>
          <a:xfrm>
            <a:off x="548640" y="443484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集群规模：13 个容器 (1×NameNode + 3×DataNode + 1×SparkMaster + 2×SparkWorker + Hive×2 + MySQL + ES + Kibana + PG) | 数据流水线：8 步全自动执行，耗时 ~71s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064D5C"/>
          </a:solidFill>
          <a:ln/>
        </p:spPr>
        <p:txBody>
          <a:bodyPr/>
          <a:lstStyle/>
          <a:p>
            <a:endParaRPr lang="zh-Hans-HK" altLang="en-US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第三章·需求分析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201168"/>
            <a:ext cx="7772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804672"/>
            <a:ext cx="54864" cy="320040"/>
          </a:xfrm>
          <a:prstGeom prst="rect">
            <a:avLst/>
          </a:prstGeom>
          <a:solidFill>
            <a:srgbClr val="E76F51"/>
          </a:solidFill>
          <a:ln/>
        </p:spPr>
        <p:txBody>
          <a:bodyPr/>
          <a:lstStyle/>
          <a:p>
            <a:endParaRPr lang="zh-Hans-HK" altLang="en-US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4572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64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用户角色与核心诉求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1417320"/>
            <a:ext cx="260604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Hans-HK" altLang="en-US"/>
          </a:p>
        </p:txBody>
      </p:sp>
      <p:sp>
        <p:nvSpPr>
          <p:cNvPr id="8" name="Shape 6"/>
          <p:cNvSpPr/>
          <p:nvPr/>
        </p:nvSpPr>
        <p:spPr>
          <a:xfrm>
            <a:off x="457200" y="1417320"/>
            <a:ext cx="54864" cy="105156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zh-Hans-HK" altLang="en-US"/>
          </a:p>
        </p:txBody>
      </p:sp>
      <p:sp>
        <p:nvSpPr>
          <p:cNvPr id="9" name="Shape 7"/>
          <p:cNvSpPr/>
          <p:nvPr/>
        </p:nvSpPr>
        <p:spPr>
          <a:xfrm>
            <a:off x="594360" y="1508760"/>
            <a:ext cx="438912" cy="438912"/>
          </a:xfrm>
          <a:prstGeom prst="ellipse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zh-Hans-HK" altLang="en-US"/>
          </a:p>
        </p:txBody>
      </p:sp>
      <p:sp>
        <p:nvSpPr>
          <p:cNvPr id="10" name="Text 8"/>
          <p:cNvSpPr/>
          <p:nvPr/>
        </p:nvSpPr>
        <p:spPr>
          <a:xfrm>
            <a:off x="594360" y="150876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管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143000" y="15544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管理员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94360" y="2029968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用户权限管理、数据质量维护、集群运行监控、数据导入与模型更新执行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291840" y="1417320"/>
            <a:ext cx="260604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Hans-HK" altLang="en-US"/>
          </a:p>
        </p:txBody>
      </p:sp>
      <p:sp>
        <p:nvSpPr>
          <p:cNvPr id="14" name="Shape 12"/>
          <p:cNvSpPr/>
          <p:nvPr/>
        </p:nvSpPr>
        <p:spPr>
          <a:xfrm>
            <a:off x="3291840" y="1417320"/>
            <a:ext cx="54864" cy="105156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zh-Hans-HK" altLang="en-US"/>
          </a:p>
        </p:txBody>
      </p:sp>
      <p:sp>
        <p:nvSpPr>
          <p:cNvPr id="15" name="Shape 13"/>
          <p:cNvSpPr/>
          <p:nvPr/>
        </p:nvSpPr>
        <p:spPr>
          <a:xfrm>
            <a:off x="3429000" y="1508760"/>
            <a:ext cx="438912" cy="438912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zh-Hans-HK" altLang="en-US"/>
          </a:p>
        </p:txBody>
      </p:sp>
      <p:sp>
        <p:nvSpPr>
          <p:cNvPr id="16" name="Text 14"/>
          <p:cNvSpPr/>
          <p:nvPr/>
        </p:nvSpPr>
        <p:spPr>
          <a:xfrm>
            <a:off x="3429000" y="150876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977640" y="15544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普通用户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429000" y="2029968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查看个人睡眠画像、获取健康建议、使用AI智能问诊、检索历史睡眠记录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126480" y="1417320"/>
            <a:ext cx="260604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Hans-HK" altLang="en-US"/>
          </a:p>
        </p:txBody>
      </p:sp>
      <p:sp>
        <p:nvSpPr>
          <p:cNvPr id="20" name="Shape 18"/>
          <p:cNvSpPr/>
          <p:nvPr/>
        </p:nvSpPr>
        <p:spPr>
          <a:xfrm>
            <a:off x="6126480" y="1417320"/>
            <a:ext cx="54864" cy="1051560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zh-Hans-HK" altLang="en-US"/>
          </a:p>
        </p:txBody>
      </p:sp>
      <p:sp>
        <p:nvSpPr>
          <p:cNvPr id="21" name="Shape 19"/>
          <p:cNvSpPr/>
          <p:nvPr/>
        </p:nvSpPr>
        <p:spPr>
          <a:xfrm>
            <a:off x="6263640" y="1508760"/>
            <a:ext cx="438912" cy="438912"/>
          </a:xfrm>
          <a:prstGeom prst="ellipse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zh-Hans-HK" altLang="en-US"/>
          </a:p>
        </p:txBody>
      </p:sp>
      <p:sp>
        <p:nvSpPr>
          <p:cNvPr id="22" name="Text 20"/>
          <p:cNvSpPr/>
          <p:nvPr/>
        </p:nvSpPr>
        <p:spPr>
          <a:xfrm>
            <a:off x="6263640" y="150876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研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812280" y="15544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研究人员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263640" y="2029968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多维关联分析、人群特征挖掘、高危群体识别、数据导出与报告生成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57200" y="26974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64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功能性需求 F1–F7</a:t>
            </a:r>
            <a:endParaRPr lang="en-US" sz="15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017520"/>
          <a:ext cx="8229600" cy="2112264"/>
        </p:xfrm>
        <a:graphic>
          <a:graphicData uri="http://schemas.openxmlformats.org/drawingml/2006/table">
            <a:tbl>
              <a:tblPr/>
              <a:tblGrid>
                <a:gridCol w="548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00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17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用户认证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JWT 登录注册，管理员/用户角色权限，路由守卫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睡眠总览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年度/月度趋势、地域分布、设备份额、核心KPI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966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个人画像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历史趋势、睡眠结构分析、行为干预建议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77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关联分析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温度效率矩阵、睡前活动对比、体征相关性热力图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6F5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智能预测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睡眠得分预测、特征重要性、3D PCA聚类散点图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极速检索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 多条件组合搜索、明细CRUD、高危告警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助手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DeepSeek 个性化睡眠诊断、CBT-I 干预指导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064D5C"/>
          </a:solidFill>
          <a:ln/>
        </p:spPr>
        <p:txBody>
          <a:bodyPr/>
          <a:lstStyle/>
          <a:p>
            <a:endParaRPr lang="zh-Hans-HK" altLang="en-US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第四章·系统设计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201168"/>
            <a:ext cx="7772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804672"/>
            <a:ext cx="54864" cy="320040"/>
          </a:xfrm>
          <a:prstGeom prst="rect">
            <a:avLst/>
          </a:prstGeom>
          <a:solidFill>
            <a:srgbClr val="E76F51"/>
          </a:solidFill>
          <a:ln/>
        </p:spPr>
        <p:txBody>
          <a:bodyPr/>
          <a:lstStyle/>
          <a:p>
            <a:endParaRPr lang="zh-Hans-HK" altLang="en-US"/>
          </a:p>
        </p:txBody>
      </p:sp>
      <p:sp>
        <p:nvSpPr>
          <p:cNvPr id="6" name="Shape 4"/>
          <p:cNvSpPr/>
          <p:nvPr/>
        </p:nvSpPr>
        <p:spPr>
          <a:xfrm>
            <a:off x="228600" y="1051560"/>
            <a:ext cx="2011680" cy="77724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zh-Hans-HK" altLang="en-US"/>
          </a:p>
        </p:txBody>
      </p:sp>
      <p:sp>
        <p:nvSpPr>
          <p:cNvPr id="7" name="Text 5"/>
          <p:cNvSpPr/>
          <p:nvPr/>
        </p:nvSpPr>
        <p:spPr>
          <a:xfrm>
            <a:off x="228600" y="109728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ODS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贴源层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28600" y="155448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ods_sleep_raw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28600" y="1965960"/>
            <a:ext cx="2011680" cy="16002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Hans-HK" altLang="en-US"/>
          </a:p>
        </p:txBody>
      </p:sp>
      <p:sp>
        <p:nvSpPr>
          <p:cNvPr id="10" name="Text 8"/>
          <p:cNvSpPr/>
          <p:nvPr/>
        </p:nvSpPr>
        <p:spPr>
          <a:xfrm>
            <a:off x="338328" y="2057400"/>
            <a:ext cx="179222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40+列原始字段全量保留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心率·血氧·打鼾·步数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2240280" y="1143000"/>
            <a:ext cx="182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2423160" y="1051560"/>
            <a:ext cx="2011680" cy="77724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zh-Hans-HK" altLang="en-US"/>
          </a:p>
        </p:txBody>
      </p:sp>
      <p:sp>
        <p:nvSpPr>
          <p:cNvPr id="13" name="Text 11"/>
          <p:cNvSpPr/>
          <p:nvPr/>
        </p:nvSpPr>
        <p:spPr>
          <a:xfrm>
            <a:off x="2423160" y="109728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DWD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明细层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423160" y="155448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dwd_sleep_detail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423160" y="1965960"/>
            <a:ext cx="2011680" cy="16002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Hans-HK" altLang="en-US"/>
          </a:p>
        </p:txBody>
      </p:sp>
      <p:sp>
        <p:nvSpPr>
          <p:cNvPr id="16" name="Text 14"/>
          <p:cNvSpPr/>
          <p:nvPr/>
        </p:nvSpPr>
        <p:spPr>
          <a:xfrm>
            <a:off x="2532888" y="2057400"/>
            <a:ext cx="179222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去重·过滤无效数据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BMI计算·年龄分桶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时区→地域映射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Pearson 偏置注入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434840" y="1143000"/>
            <a:ext cx="182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4617720" y="1051560"/>
            <a:ext cx="2011680" cy="777240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zh-Hans-HK" altLang="en-US"/>
          </a:p>
        </p:txBody>
      </p:sp>
      <p:sp>
        <p:nvSpPr>
          <p:cNvPr id="19" name="Text 17"/>
          <p:cNvSpPr/>
          <p:nvPr/>
        </p:nvSpPr>
        <p:spPr>
          <a:xfrm>
            <a:off x="4617720" y="109728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DWS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汇总层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617720" y="155448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dws_* ×6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617720" y="1965960"/>
            <a:ext cx="2011680" cy="16002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Hans-HK" altLang="en-US"/>
          </a:p>
        </p:txBody>
      </p:sp>
      <p:sp>
        <p:nvSpPr>
          <p:cNvPr id="22" name="Text 20"/>
          <p:cNvSpPr/>
          <p:nvPr/>
        </p:nvSpPr>
        <p:spPr>
          <a:xfrm>
            <a:off x="4727448" y="2057400"/>
            <a:ext cx="179222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年度/月度趋势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地域汇总·设备份额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年龄段睡眠构成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打鼾-血氧气泡图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629400" y="1143000"/>
            <a:ext cx="182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6812280" y="1051560"/>
            <a:ext cx="2011680" cy="777240"/>
          </a:xfrm>
          <a:prstGeom prst="rect">
            <a:avLst/>
          </a:prstGeom>
          <a:solidFill>
            <a:srgbClr val="E76F51"/>
          </a:solidFill>
          <a:ln/>
        </p:spPr>
        <p:txBody>
          <a:bodyPr/>
          <a:lstStyle/>
          <a:p>
            <a:endParaRPr lang="zh-Hans-HK" altLang="en-US"/>
          </a:p>
        </p:txBody>
      </p:sp>
      <p:sp>
        <p:nvSpPr>
          <p:cNvPr id="25" name="Text 23"/>
          <p:cNvSpPr/>
          <p:nvPr/>
        </p:nvSpPr>
        <p:spPr>
          <a:xfrm>
            <a:off x="6812280" y="109728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ADS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应用层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812280" y="155448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ads_* ×6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812280" y="1965960"/>
            <a:ext cx="2011680" cy="16002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Hans-HK" altLang="en-US"/>
          </a:p>
        </p:txBody>
      </p:sp>
      <p:sp>
        <p:nvSpPr>
          <p:cNvPr id="28" name="Text 26"/>
          <p:cNvSpPr/>
          <p:nvPr/>
        </p:nvSpPr>
        <p:spPr>
          <a:xfrm>
            <a:off x="6922008" y="2057400"/>
            <a:ext cx="179222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Pearson 相关性矩阵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温度效率关系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特征重要性·模型指标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PCA聚类坐标·画像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228600" y="3749040"/>
            <a:ext cx="8686800" cy="1188720"/>
          </a:xfrm>
          <a:prstGeom prst="rect">
            <a:avLst/>
          </a:prstGeom>
          <a:solidFill>
            <a:srgbClr val="064D5C"/>
          </a:solidFill>
          <a:ln/>
        </p:spPr>
        <p:txBody>
          <a:bodyPr/>
          <a:lstStyle/>
          <a:p>
            <a:endParaRPr lang="zh-Hans-HK" altLang="en-US"/>
          </a:p>
        </p:txBody>
      </p:sp>
      <p:sp>
        <p:nvSpPr>
          <p:cNvPr id="30" name="Text 28"/>
          <p:cNvSpPr/>
          <p:nvPr/>
        </p:nvSpPr>
        <p:spPr>
          <a:xfrm>
            <a:off x="457200" y="379476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 关键优化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57200" y="411480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消除 Python UDF：</a:t>
            </a:r>
            <a:r>
              <a:rPr lang="en-US" sz="10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全部改用 Spark 内置函数 F.when().otherwise()，避免跨进程开销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Shuffle 优化：</a:t>
            </a:r>
            <a:r>
              <a:rPr lang="en-US" sz="10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spark.sql.shuffle.partitions=4，减少 Task 调度延迟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批量写入：</a:t>
            </a:r>
            <a:r>
              <a:rPr lang="en-US" sz="10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rewriteBatchedStatements+batchsize=5000，ES Bulk 0副本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分发策略：</a:t>
            </a:r>
            <a:r>
              <a:rPr lang="en-US" sz="10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统计指标→MySQL(14表) | 明细→ES(强类型索引) | 模型→PMML(JVM推理)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064D5C"/>
          </a:solidFill>
          <a:ln/>
        </p:spPr>
        <p:txBody>
          <a:bodyPr/>
          <a:lstStyle/>
          <a:p>
            <a:endParaRPr lang="zh-Hans-HK" altLang="en-US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第四章·系统设计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201168"/>
            <a:ext cx="7772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804672"/>
            <a:ext cx="54864" cy="320040"/>
          </a:xfrm>
          <a:prstGeom prst="rect">
            <a:avLst/>
          </a:prstGeom>
          <a:solidFill>
            <a:srgbClr val="E76F51"/>
          </a:solidFill>
          <a:ln/>
        </p:spPr>
        <p:txBody>
          <a:bodyPr/>
          <a:lstStyle/>
          <a:p>
            <a:endParaRPr lang="zh-Hans-HK" altLang="en-US"/>
          </a:p>
        </p:txBody>
      </p:sp>
      <p:sp>
        <p:nvSpPr>
          <p:cNvPr id="6" name="Shape 4"/>
          <p:cNvSpPr/>
          <p:nvPr/>
        </p:nvSpPr>
        <p:spPr>
          <a:xfrm>
            <a:off x="365760" y="1051560"/>
            <a:ext cx="5029200" cy="36576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zh-Hans-HK" altLang="en-US"/>
          </a:p>
        </p:txBody>
      </p:sp>
      <p:sp>
        <p:nvSpPr>
          <p:cNvPr id="7" name="Text 5"/>
          <p:cNvSpPr/>
          <p:nvPr/>
        </p:nvSpPr>
        <p:spPr>
          <a:xfrm>
            <a:off x="548640" y="105156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模型一：RandomForestRegressor — 睡眠得分预测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1463040"/>
            <a:ext cx="5029200" cy="15087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Hans-HK" altLang="en-US"/>
          </a:p>
        </p:txBody>
      </p:sp>
      <p:sp>
        <p:nvSpPr>
          <p:cNvPr id="9" name="Shape 7"/>
          <p:cNvSpPr/>
          <p:nvPr/>
        </p:nvSpPr>
        <p:spPr>
          <a:xfrm>
            <a:off x="365760" y="1463040"/>
            <a:ext cx="54864" cy="150876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zh-Hans-HK" altLang="en-US"/>
          </a:p>
        </p:txBody>
      </p:sp>
      <p:sp>
        <p:nvSpPr>
          <p:cNvPr id="10" name="Text 8"/>
          <p:cNvSpPr/>
          <p:nvPr/>
        </p:nvSpPr>
        <p:spPr>
          <a:xfrm>
            <a:off x="548640" y="1554480"/>
            <a:ext cx="46634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算法参数：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100棵树 | maxDepth=8 | minInstancesPerNode=5 | 80/20 训练测试分割</a:t>
            </a:r>
            <a:endParaRPr lang="en-US" sz="950" dirty="0"/>
          </a:p>
          <a:p>
            <a:pPr marL="0" indent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输入特征 (12维)：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步数 | 咖啡因 | 酒精 | 屏幕时间 | 压力评分 | 睡前运动 | 室温 | 噪音 | 就寝规律性 | 午睡时长 | 年龄 | BMI</a:t>
            </a:r>
            <a:endParaRPr lang="en-US" sz="950" dirty="0"/>
          </a:p>
          <a:p>
            <a:pPr marL="0" indent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目标变量：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sleep_score (0–100 睡眠质量评分)</a:t>
            </a:r>
            <a:endParaRPr lang="en-US" sz="950" dirty="0"/>
          </a:p>
          <a:p>
            <a:pPr marL="0" indent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评估：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 (均方根误差) + R² (决定系数) | PMML 4.4 导出 (含标准化预处理) | JVM 毫秒级推理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669280" y="1051560"/>
            <a:ext cx="3108960" cy="365760"/>
          </a:xfrm>
          <a:prstGeom prst="rect">
            <a:avLst/>
          </a:prstGeom>
          <a:solidFill>
            <a:srgbClr val="E76F51"/>
          </a:solidFill>
          <a:ln/>
        </p:spPr>
        <p:txBody>
          <a:bodyPr/>
          <a:lstStyle/>
          <a:p>
            <a:endParaRPr lang="zh-Hans-HK" altLang="en-US"/>
          </a:p>
        </p:txBody>
      </p:sp>
      <p:sp>
        <p:nvSpPr>
          <p:cNvPr id="12" name="Text 10"/>
          <p:cNvSpPr/>
          <p:nvPr/>
        </p:nvSpPr>
        <p:spPr>
          <a:xfrm>
            <a:off x="5852160" y="10515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模型二：KMeans+PCA 聚类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669280" y="1463040"/>
            <a:ext cx="3108960" cy="15087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Hans-HK" altLang="en-US"/>
          </a:p>
        </p:txBody>
      </p:sp>
      <p:sp>
        <p:nvSpPr>
          <p:cNvPr id="14" name="Shape 12"/>
          <p:cNvSpPr/>
          <p:nvPr/>
        </p:nvSpPr>
        <p:spPr>
          <a:xfrm>
            <a:off x="5669280" y="1463040"/>
            <a:ext cx="54864" cy="1508760"/>
          </a:xfrm>
          <a:prstGeom prst="rect">
            <a:avLst/>
          </a:prstGeom>
          <a:solidFill>
            <a:srgbClr val="E76F51"/>
          </a:solidFill>
          <a:ln/>
        </p:spPr>
        <p:txBody>
          <a:bodyPr/>
          <a:lstStyle/>
          <a:p>
            <a:endParaRPr lang="zh-Hans-HK" altLang="en-US"/>
          </a:p>
        </p:txBody>
      </p:sp>
      <p:sp>
        <p:nvSpPr>
          <p:cNvPr id="15" name="Text 13"/>
          <p:cNvSpPr/>
          <p:nvPr/>
        </p:nvSpPr>
        <p:spPr>
          <a:xfrm>
            <a:off x="5852160" y="1554480"/>
            <a:ext cx="27432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流程：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StandardScaler → KMeans(K=3) → PCA(3维) → Silhouette评估</a:t>
            </a:r>
            <a:endParaRPr lang="en-US" sz="950" dirty="0"/>
          </a:p>
          <a:p>
            <a:pPr marL="0" indent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特征 (16维)：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睡眠得分/效率/潜伏期/深睡占比/心率/HRV/血氧/打鼾/呼吸暂停/睡前行为等</a:t>
            </a:r>
            <a:endParaRPr lang="en-US" sz="950" dirty="0"/>
          </a:p>
          <a:p>
            <a:pPr marL="0" indent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聚类标签：</a:t>
            </a:r>
            <a:r>
              <a:rPr lang="en-US" sz="9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健康作息型</a:t>
            </a:r>
            <a:r>
              <a:rPr lang="en-US" sz="95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呼吸障碍风险型</a:t>
            </a:r>
            <a:r>
              <a:rPr lang="en-US" sz="9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压力亚健康型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可视化：ECharts-GL 3D 散点图，2000采样点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65760" y="32461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57200" y="363016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57200" y="388620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2651760" y="388620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846320" y="388620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7040880" y="363016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7040880" y="388620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900" dirty="0"/>
          </a:p>
        </p:txBody>
      </p:sp>
      <p:pic>
        <p:nvPicPr>
          <p:cNvPr id="34" name="图片 33">
            <a:extLst>
              <a:ext uri="{FF2B5EF4-FFF2-40B4-BE49-F238E27FC236}">
                <a16:creationId xmlns:a16="http://schemas.microsoft.com/office/drawing/2014/main" id="{41C7E98A-D54D-C770-09A0-38F6E5EB1D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28" y="3187738"/>
            <a:ext cx="5716264" cy="1474658"/>
          </a:xfrm>
          <a:prstGeom prst="rect">
            <a:avLst/>
          </a:prstGeom>
        </p:spPr>
      </p:pic>
      <p:pic>
        <p:nvPicPr>
          <p:cNvPr id="36" name="图片 35">
            <a:extLst>
              <a:ext uri="{FF2B5EF4-FFF2-40B4-BE49-F238E27FC236}">
                <a16:creationId xmlns:a16="http://schemas.microsoft.com/office/drawing/2014/main" id="{4AFD28FB-1E37-FA45-6895-B9CA19120F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19768" y="3246120"/>
            <a:ext cx="2865380" cy="141627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064D5C"/>
          </a:solidFill>
          <a:ln/>
        </p:spPr>
        <p:txBody>
          <a:bodyPr/>
          <a:lstStyle/>
          <a:p>
            <a:endParaRPr lang="zh-Hans-HK" altLang="en-US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第五章·系统实现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201168"/>
            <a:ext cx="7772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804672"/>
            <a:ext cx="54864" cy="320040"/>
          </a:xfrm>
          <a:prstGeom prst="rect">
            <a:avLst/>
          </a:prstGeom>
          <a:solidFill>
            <a:srgbClr val="E76F51"/>
          </a:solidFill>
          <a:ln/>
        </p:spPr>
        <p:txBody>
          <a:bodyPr/>
          <a:lstStyle/>
          <a:p>
            <a:endParaRPr lang="zh-Hans-HK" altLang="en-US"/>
          </a:p>
        </p:txBody>
      </p:sp>
      <p:sp>
        <p:nvSpPr>
          <p:cNvPr id="6" name="Shape 4"/>
          <p:cNvSpPr/>
          <p:nvPr/>
        </p:nvSpPr>
        <p:spPr>
          <a:xfrm>
            <a:off x="182880" y="1051560"/>
            <a:ext cx="1600200" cy="749808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zh-Hans-HK" altLang="en-US"/>
          </a:p>
        </p:txBody>
      </p:sp>
      <p:sp>
        <p:nvSpPr>
          <p:cNvPr id="7" name="Text 5"/>
          <p:cNvSpPr/>
          <p:nvPr/>
        </p:nvSpPr>
        <p:spPr>
          <a:xfrm>
            <a:off x="182880" y="1078992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屏1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82880" y="1417320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睡眠健康总览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82880" y="1874520"/>
            <a:ext cx="1600200" cy="15087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Hans-HK" altLang="en-US"/>
          </a:p>
        </p:txBody>
      </p:sp>
      <p:sp>
        <p:nvSpPr>
          <p:cNvPr id="10" name="Text 8"/>
          <p:cNvSpPr/>
          <p:nvPr/>
        </p:nvSpPr>
        <p:spPr>
          <a:xfrm>
            <a:off x="274320" y="1938528"/>
            <a:ext cx="1417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年度/月度趋势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地域热力分布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设备市场份额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KPI指标卡片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938528" y="1051560"/>
            <a:ext cx="1600200" cy="749808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zh-Hans-HK" altLang="en-US"/>
          </a:p>
        </p:txBody>
      </p:sp>
      <p:sp>
        <p:nvSpPr>
          <p:cNvPr id="12" name="Text 10"/>
          <p:cNvSpPr/>
          <p:nvPr/>
        </p:nvSpPr>
        <p:spPr>
          <a:xfrm>
            <a:off x="1938528" y="1078992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屏2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938528" y="1417320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个人睡眠画像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938528" y="1874520"/>
            <a:ext cx="1600200" cy="15087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Hans-HK" altLang="en-US"/>
          </a:p>
        </p:txBody>
      </p:sp>
      <p:sp>
        <p:nvSpPr>
          <p:cNvPr id="15" name="Text 13"/>
          <p:cNvSpPr/>
          <p:nvPr/>
        </p:nvSpPr>
        <p:spPr>
          <a:xfrm>
            <a:off x="2029968" y="1938528"/>
            <a:ext cx="1417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用户ID检索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历史趋势曲线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睡眠阶段分析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行为干预建议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694176" y="1051560"/>
            <a:ext cx="1600200" cy="749808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zh-Hans-HK" altLang="en-US"/>
          </a:p>
        </p:txBody>
      </p:sp>
      <p:sp>
        <p:nvSpPr>
          <p:cNvPr id="17" name="Text 15"/>
          <p:cNvSpPr/>
          <p:nvPr/>
        </p:nvSpPr>
        <p:spPr>
          <a:xfrm>
            <a:off x="3694176" y="1078992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屏3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3694176" y="1417320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生活因子关联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94176" y="1874520"/>
            <a:ext cx="1600200" cy="15087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Hans-HK" altLang="en-US"/>
          </a:p>
        </p:txBody>
      </p:sp>
      <p:sp>
        <p:nvSpPr>
          <p:cNvPr id="20" name="Text 18"/>
          <p:cNvSpPr/>
          <p:nvPr/>
        </p:nvSpPr>
        <p:spPr>
          <a:xfrm>
            <a:off x="3785616" y="1938528"/>
            <a:ext cx="1417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温度效率矩阵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睡前活动对比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相关性热力图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打鼾气泡图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449824" y="1051560"/>
            <a:ext cx="1600200" cy="749808"/>
          </a:xfrm>
          <a:prstGeom prst="rect">
            <a:avLst/>
          </a:prstGeom>
          <a:solidFill>
            <a:srgbClr val="E76F51"/>
          </a:solidFill>
          <a:ln/>
        </p:spPr>
        <p:txBody>
          <a:bodyPr/>
          <a:lstStyle/>
          <a:p>
            <a:endParaRPr lang="zh-Hans-HK" altLang="en-US"/>
          </a:p>
        </p:txBody>
      </p:sp>
      <p:sp>
        <p:nvSpPr>
          <p:cNvPr id="22" name="Text 20"/>
          <p:cNvSpPr/>
          <p:nvPr/>
        </p:nvSpPr>
        <p:spPr>
          <a:xfrm>
            <a:off x="5449824" y="1078992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屏4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5449824" y="1417320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智能诊断预测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449824" y="1874520"/>
            <a:ext cx="1600200" cy="15087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Hans-HK" altLang="en-US"/>
          </a:p>
        </p:txBody>
      </p:sp>
      <p:sp>
        <p:nvSpPr>
          <p:cNvPr id="25" name="Text 23"/>
          <p:cNvSpPr/>
          <p:nvPr/>
        </p:nvSpPr>
        <p:spPr>
          <a:xfrm>
            <a:off x="5541264" y="1938528"/>
            <a:ext cx="1417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特征重要性排序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PCA聚类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实时评分预测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AI问诊入口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7205472" y="1051560"/>
            <a:ext cx="1600200" cy="749808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zh-Hans-HK" altLang="en-US"/>
          </a:p>
        </p:txBody>
      </p:sp>
      <p:sp>
        <p:nvSpPr>
          <p:cNvPr id="27" name="Text 25"/>
          <p:cNvSpPr/>
          <p:nvPr/>
        </p:nvSpPr>
        <p:spPr>
          <a:xfrm>
            <a:off x="7205472" y="1078992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屏5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7205472" y="1417320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数据极速检索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7205472" y="1874520"/>
            <a:ext cx="1600200" cy="15087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Hans-HK" altLang="en-US"/>
          </a:p>
        </p:txBody>
      </p:sp>
      <p:sp>
        <p:nvSpPr>
          <p:cNvPr id="30" name="Text 28"/>
          <p:cNvSpPr/>
          <p:nvPr/>
        </p:nvSpPr>
        <p:spPr>
          <a:xfrm>
            <a:off x="7296912" y="1938528"/>
            <a:ext cx="1417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多条件组合搜索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明细数据CRUD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ES聚合统计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高危告警流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82880" y="3566160"/>
            <a:ext cx="8778240" cy="1325880"/>
          </a:xfrm>
          <a:prstGeom prst="rect">
            <a:avLst/>
          </a:prstGeom>
          <a:solidFill>
            <a:srgbClr val="064D5C"/>
          </a:solidFill>
          <a:ln/>
        </p:spPr>
        <p:txBody>
          <a:bodyPr/>
          <a:lstStyle/>
          <a:p>
            <a:endParaRPr lang="zh-Hans-HK" altLang="en-US"/>
          </a:p>
        </p:txBody>
      </p:sp>
      <p:sp>
        <p:nvSpPr>
          <p:cNvPr id="32" name="Text 30"/>
          <p:cNvSpPr/>
          <p:nvPr/>
        </p:nvSpPr>
        <p:spPr>
          <a:xfrm>
            <a:off x="365760" y="3611880"/>
            <a:ext cx="8412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4B8A6"/>
                </a:solidFill>
              </a:rPr>
              <a:t>前端技术栈
</a:t>
            </a:r>
            <a:r>
              <a:rPr lang="en-US" sz="1000" dirty="0">
                <a:solidFill>
                  <a:srgbClr val="FFFFFF"/>
                </a:solidFill>
              </a:rPr>
              <a:t>Vue 3 + Vite 5 + Vue Router 4 + Axios    |    ECharts 5.5.0 (趋势图/热力图/气泡图/雷达图)    |    ECharts-GL 2.0.9 (3D PCA 聚类散点图)
</a:t>
            </a:r>
            <a:r>
              <a:rPr lang="en-US" sz="1200" b="1" dirty="0">
                <a:solidFill>
                  <a:srgbClr val="14B8A6"/>
                </a:solidFill>
              </a:rPr>
              <a:t>核心特性
</a:t>
            </a:r>
            <a:r>
              <a:rPr lang="en-US" sz="1000" dirty="0">
                <a:solidFill>
                  <a:srgbClr val="FFFFFF"/>
                </a:solidFill>
              </a:rPr>
              <a:t>JWT 路由守卫 / Token 鉴权    |    暗色大屏图表统一主题    |    PanelCard / KpiCard 统一组件    |    AI 助手毛玻璃悬窗 + Markdown 渲染 + 打字动画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064D5C"/>
          </a:solidFill>
          <a:ln/>
        </p:spPr>
        <p:txBody>
          <a:bodyPr/>
          <a:lstStyle/>
          <a:p>
            <a:endParaRPr lang="zh-Hans-HK" altLang="en-US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第五章·系统实现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201168"/>
            <a:ext cx="7772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804672"/>
            <a:ext cx="54864" cy="320040"/>
          </a:xfrm>
          <a:prstGeom prst="rect">
            <a:avLst/>
          </a:prstGeom>
          <a:solidFill>
            <a:srgbClr val="E76F51"/>
          </a:solidFill>
          <a:ln/>
        </p:spPr>
        <p:txBody>
          <a:bodyPr/>
          <a:lstStyle/>
          <a:p>
            <a:endParaRPr lang="zh-Hans-HK" altLang="en-US"/>
          </a:p>
        </p:txBody>
      </p:sp>
      <p:sp>
        <p:nvSpPr>
          <p:cNvPr id="6" name="Shape 4"/>
          <p:cNvSpPr/>
          <p:nvPr/>
        </p:nvSpPr>
        <p:spPr>
          <a:xfrm>
            <a:off x="365760" y="1051560"/>
            <a:ext cx="5029200" cy="25603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Hans-HK" altLang="en-US"/>
          </a:p>
        </p:txBody>
      </p:sp>
      <p:sp>
        <p:nvSpPr>
          <p:cNvPr id="7" name="Shape 5"/>
          <p:cNvSpPr/>
          <p:nvPr/>
        </p:nvSpPr>
        <p:spPr>
          <a:xfrm>
            <a:off x="365760" y="1051560"/>
            <a:ext cx="54864" cy="256032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zh-Hans-HK" altLang="en-US"/>
          </a:p>
        </p:txBody>
      </p:sp>
      <p:sp>
        <p:nvSpPr>
          <p:cNvPr id="8" name="Shape 6"/>
          <p:cNvSpPr/>
          <p:nvPr/>
        </p:nvSpPr>
        <p:spPr>
          <a:xfrm>
            <a:off x="365760" y="1051560"/>
            <a:ext cx="5029200" cy="36576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zh-Hans-HK" altLang="en-US"/>
          </a:p>
        </p:txBody>
      </p:sp>
      <p:sp>
        <p:nvSpPr>
          <p:cNvPr id="9" name="Text 7"/>
          <p:cNvSpPr/>
          <p:nvPr/>
        </p:nvSpPr>
        <p:spPr>
          <a:xfrm>
            <a:off x="548640" y="105156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DeepSeek 大模型处理流水线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94360" y="1572768"/>
            <a:ext cx="274320" cy="274320"/>
          </a:xfrm>
          <a:prstGeom prst="ellipse">
            <a:avLst/>
          </a:prstGeom>
          <a:solidFill>
            <a:srgbClr val="E76F51"/>
          </a:solidFill>
          <a:ln/>
        </p:spPr>
        <p:txBody>
          <a:bodyPr/>
          <a:lstStyle/>
          <a:p>
            <a:endParaRPr lang="zh-Hans-HK" altLang="en-US"/>
          </a:p>
        </p:txBody>
      </p:sp>
      <p:sp>
        <p:nvSpPr>
          <p:cNvPr id="11" name="Text 9"/>
          <p:cNvSpPr/>
          <p:nvPr/>
        </p:nvSpPr>
        <p:spPr>
          <a:xfrm>
            <a:off x="594360" y="15727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05840" y="1554480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用户提问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005840" y="1719072"/>
            <a:ext cx="4206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自然语言输入睡眠健康问题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713232" y="1847088"/>
            <a:ext cx="36576" cy="109728"/>
          </a:xfrm>
          <a:prstGeom prst="rect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zh-Hans-HK" altLang="en-US"/>
          </a:p>
        </p:txBody>
      </p:sp>
      <p:sp>
        <p:nvSpPr>
          <p:cNvPr id="15" name="Shape 13"/>
          <p:cNvSpPr/>
          <p:nvPr/>
        </p:nvSpPr>
        <p:spPr>
          <a:xfrm>
            <a:off x="594360" y="1965960"/>
            <a:ext cx="274320" cy="274320"/>
          </a:xfrm>
          <a:prstGeom prst="ellipse">
            <a:avLst/>
          </a:prstGeom>
          <a:solidFill>
            <a:srgbClr val="E76F51"/>
          </a:solidFill>
          <a:ln/>
        </p:spPr>
        <p:txBody>
          <a:bodyPr/>
          <a:lstStyle/>
          <a:p>
            <a:endParaRPr lang="zh-Hans-HK" altLang="en-US"/>
          </a:p>
        </p:txBody>
      </p:sp>
      <p:sp>
        <p:nvSpPr>
          <p:cNvPr id="16" name="Text 14"/>
          <p:cNvSpPr/>
          <p:nvPr/>
        </p:nvSpPr>
        <p:spPr>
          <a:xfrm>
            <a:off x="594360" y="19659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05840" y="1947672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数据自动提取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005840" y="2112264"/>
            <a:ext cx="4206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后端查询 MySQL，获取用户真实监测数据（心率、打鼾、睡眠均值等）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713232" y="2240280"/>
            <a:ext cx="36576" cy="109728"/>
          </a:xfrm>
          <a:prstGeom prst="rect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zh-Hans-HK" altLang="en-US"/>
          </a:p>
        </p:txBody>
      </p:sp>
      <p:sp>
        <p:nvSpPr>
          <p:cNvPr id="20" name="Shape 18"/>
          <p:cNvSpPr/>
          <p:nvPr/>
        </p:nvSpPr>
        <p:spPr>
          <a:xfrm>
            <a:off x="594360" y="2359152"/>
            <a:ext cx="274320" cy="274320"/>
          </a:xfrm>
          <a:prstGeom prst="ellipse">
            <a:avLst/>
          </a:prstGeom>
          <a:solidFill>
            <a:srgbClr val="E76F51"/>
          </a:solidFill>
          <a:ln/>
        </p:spPr>
        <p:txBody>
          <a:bodyPr/>
          <a:lstStyle/>
          <a:p>
            <a:endParaRPr lang="zh-Hans-HK" altLang="en-US"/>
          </a:p>
        </p:txBody>
      </p:sp>
      <p:sp>
        <p:nvSpPr>
          <p:cNvPr id="21" name="Text 19"/>
          <p:cNvSpPr/>
          <p:nvPr/>
        </p:nvSpPr>
        <p:spPr>
          <a:xfrm>
            <a:off x="594360" y="23591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05840" y="2340864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上下文注入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005840" y="2505456"/>
            <a:ext cx="4206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将体征数据+历史指标动态注入 System Prompt，构建个性化诊断背景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713232" y="2633472"/>
            <a:ext cx="36576" cy="109728"/>
          </a:xfrm>
          <a:prstGeom prst="rect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zh-Hans-HK" altLang="en-US"/>
          </a:p>
        </p:txBody>
      </p:sp>
      <p:sp>
        <p:nvSpPr>
          <p:cNvPr id="25" name="Shape 23"/>
          <p:cNvSpPr/>
          <p:nvPr/>
        </p:nvSpPr>
        <p:spPr>
          <a:xfrm>
            <a:off x="594360" y="2752344"/>
            <a:ext cx="274320" cy="274320"/>
          </a:xfrm>
          <a:prstGeom prst="ellipse">
            <a:avLst/>
          </a:prstGeom>
          <a:solidFill>
            <a:srgbClr val="E76F51"/>
          </a:solidFill>
          <a:ln/>
        </p:spPr>
        <p:txBody>
          <a:bodyPr/>
          <a:lstStyle/>
          <a:p>
            <a:endParaRPr lang="zh-Hans-HK" altLang="en-US"/>
          </a:p>
        </p:txBody>
      </p:sp>
      <p:sp>
        <p:nvSpPr>
          <p:cNvPr id="26" name="Text 24"/>
          <p:cNvSpPr/>
          <p:nvPr/>
        </p:nvSpPr>
        <p:spPr>
          <a:xfrm>
            <a:off x="594360" y="27523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005840" y="2734056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DeepSeek 推理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005840" y="2898648"/>
            <a:ext cx="4206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调用 deepseek-chat API，生成 CBT-I 个性化诊断报告（≤350字）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713232" y="3026664"/>
            <a:ext cx="36576" cy="109728"/>
          </a:xfrm>
          <a:prstGeom prst="rect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zh-Hans-HK" altLang="en-US"/>
          </a:p>
        </p:txBody>
      </p:sp>
      <p:sp>
        <p:nvSpPr>
          <p:cNvPr id="30" name="Shape 28"/>
          <p:cNvSpPr/>
          <p:nvPr/>
        </p:nvSpPr>
        <p:spPr>
          <a:xfrm>
            <a:off x="594360" y="3145536"/>
            <a:ext cx="274320" cy="274320"/>
          </a:xfrm>
          <a:prstGeom prst="ellipse">
            <a:avLst/>
          </a:prstGeom>
          <a:solidFill>
            <a:srgbClr val="E76F51"/>
          </a:solidFill>
          <a:ln/>
        </p:spPr>
        <p:txBody>
          <a:bodyPr/>
          <a:lstStyle/>
          <a:p>
            <a:endParaRPr lang="zh-Hans-HK" altLang="en-US"/>
          </a:p>
        </p:txBody>
      </p:sp>
      <p:sp>
        <p:nvSpPr>
          <p:cNvPr id="31" name="Text 29"/>
          <p:cNvSpPr/>
          <p:nvPr/>
        </p:nvSpPr>
        <p:spPr>
          <a:xfrm>
            <a:off x="594360" y="31455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005840" y="3127248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结果渲染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005840" y="3291840"/>
            <a:ext cx="4206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前端毛玻璃悬窗展示，Markdown 渲染 + 打字动画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760720" y="1051560"/>
            <a:ext cx="3200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5943600" y="1444752"/>
            <a:ext cx="1371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943600" y="1609344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5943600" y="1883664"/>
            <a:ext cx="1371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5943600" y="2048256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5943600" y="2322576"/>
            <a:ext cx="1371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5943600" y="2487168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5943600" y="2761488"/>
            <a:ext cx="1371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5943600" y="2926080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5943600" y="3200400"/>
            <a:ext cx="1371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5943600" y="3364992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365760" y="3840480"/>
            <a:ext cx="8412480" cy="1097280"/>
          </a:xfrm>
          <a:prstGeom prst="rect">
            <a:avLst/>
          </a:prstGeom>
          <a:solidFill>
            <a:srgbClr val="064D5C"/>
          </a:solidFill>
          <a:ln/>
        </p:spPr>
        <p:txBody>
          <a:bodyPr/>
          <a:lstStyle/>
          <a:p>
            <a:endParaRPr lang="zh-Hans-HK" altLang="en-US"/>
          </a:p>
        </p:txBody>
      </p:sp>
      <p:sp>
        <p:nvSpPr>
          <p:cNvPr id="56" name="Text 54"/>
          <p:cNvSpPr/>
          <p:nvPr/>
        </p:nvSpPr>
        <p:spPr>
          <a:xfrm>
            <a:off x="548640" y="3886200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4B8A6"/>
                </a:solidFill>
              </a:rPr>
              <a:t>价值对比
</a:t>
            </a:r>
            <a:r>
              <a:rPr lang="en-US" sz="1000" dirty="0">
                <a:solidFill>
                  <a:srgbClr val="FFFFFF"/>
                </a:solidFill>
              </a:rPr>
              <a:t>传统 AI 聊天：无法感知用户真实监测状况 → 只能生成泛泛而谈的通用建议
</a:t>
            </a:r>
            <a:r>
              <a:rPr lang="en-US" sz="1000" b="1" dirty="0">
                <a:solidFill>
                  <a:srgbClr val="CCFBF1"/>
                </a:solidFill>
              </a:rPr>
              <a:t>本系统方案：自动提取用户历史心率、打鼾、睡眠均值 → 动态注入 System Prompt → 驱动 DeepSeek 大模型生成 100% 量身定制的 CBT-I 个性化诊断报告</a:t>
            </a:r>
            <a:endParaRPr lang="en-US" sz="1200" dirty="0"/>
          </a:p>
        </p:txBody>
      </p:sp>
      <p:pic>
        <p:nvPicPr>
          <p:cNvPr id="60" name="图片 59">
            <a:extLst>
              <a:ext uri="{FF2B5EF4-FFF2-40B4-BE49-F238E27FC236}">
                <a16:creationId xmlns:a16="http://schemas.microsoft.com/office/drawing/2014/main" id="{5E716A55-353B-2C87-FE1E-4E6511032E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0596" y="826897"/>
            <a:ext cx="2380172" cy="293649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064D5C"/>
          </a:solidFill>
          <a:ln/>
        </p:spPr>
        <p:txBody>
          <a:bodyPr/>
          <a:lstStyle/>
          <a:p>
            <a:endParaRPr lang="zh-Hans-HK" altLang="en-US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第六章·系统亮点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201168"/>
            <a:ext cx="7772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804672"/>
            <a:ext cx="54864" cy="320040"/>
          </a:xfrm>
          <a:prstGeom prst="rect">
            <a:avLst/>
          </a:prstGeom>
          <a:solidFill>
            <a:srgbClr val="E76F51"/>
          </a:solidFill>
          <a:ln/>
        </p:spPr>
        <p:txBody>
          <a:bodyPr/>
          <a:lstStyle/>
          <a:p>
            <a:endParaRPr lang="zh-Hans-HK" altLang="en-US"/>
          </a:p>
        </p:txBody>
      </p:sp>
      <p:sp>
        <p:nvSpPr>
          <p:cNvPr id="6" name="Shape 4"/>
          <p:cNvSpPr/>
          <p:nvPr/>
        </p:nvSpPr>
        <p:spPr>
          <a:xfrm>
            <a:off x="320040" y="1005840"/>
            <a:ext cx="91440" cy="896112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zh-Hans-HK" altLang="en-US"/>
          </a:p>
        </p:txBody>
      </p:sp>
      <p:sp>
        <p:nvSpPr>
          <p:cNvPr id="7" name="Text 5"/>
          <p:cNvSpPr/>
          <p:nvPr/>
        </p:nvSpPr>
        <p:spPr>
          <a:xfrm>
            <a:off x="548640" y="1051560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891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97280" y="105156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工业级 PMML 模型推理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097280" y="1417320"/>
            <a:ext cx="2194560" cy="43891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Hans-HK" altLang="en-US"/>
          </a:p>
        </p:txBody>
      </p:sp>
      <p:sp>
        <p:nvSpPr>
          <p:cNvPr id="10" name="Text 8"/>
          <p:cNvSpPr/>
          <p:nvPr/>
        </p:nvSpPr>
        <p:spPr>
          <a:xfrm>
            <a:off x="1170432" y="1426464"/>
            <a:ext cx="411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痛点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600200" y="1426464"/>
            <a:ext cx="1600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后端跨进程调用 Python 带来高延迟与并发瓶颈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0" y="1417320"/>
            <a:ext cx="2194560" cy="43891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Hans-HK" altLang="en-US"/>
          </a:p>
        </p:txBody>
      </p:sp>
      <p:sp>
        <p:nvSpPr>
          <p:cNvPr id="13" name="Text 11"/>
          <p:cNvSpPr/>
          <p:nvPr/>
        </p:nvSpPr>
        <p:spPr>
          <a:xfrm>
            <a:off x="3547872" y="1426464"/>
            <a:ext cx="411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方案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977640" y="1426464"/>
            <a:ext cx="1600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PMML 跨平台协议：Spark 训练 → JVM 常驻加载 → 毫秒级纯内存推理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5852160" y="1417320"/>
            <a:ext cx="2194560" cy="43891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Hans-HK" altLang="en-US"/>
          </a:p>
        </p:txBody>
      </p:sp>
      <p:sp>
        <p:nvSpPr>
          <p:cNvPr id="16" name="Text 14"/>
          <p:cNvSpPr/>
          <p:nvPr/>
        </p:nvSpPr>
        <p:spPr>
          <a:xfrm>
            <a:off x="5925312" y="1426464"/>
            <a:ext cx="411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效果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6355080" y="1426464"/>
            <a:ext cx="1600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零网络延迟、零 Python 依赖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20040" y="1993392"/>
            <a:ext cx="91440" cy="89611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zh-Hans-HK" altLang="en-US"/>
          </a:p>
        </p:txBody>
      </p:sp>
      <p:sp>
        <p:nvSpPr>
          <p:cNvPr id="19" name="Text 17"/>
          <p:cNvSpPr/>
          <p:nvPr/>
        </p:nvSpPr>
        <p:spPr>
          <a:xfrm>
            <a:off x="548640" y="203911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097280" y="203911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垂直大模型深度融合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1097280" y="2404872"/>
            <a:ext cx="2194560" cy="43891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Hans-HK" altLang="en-US"/>
          </a:p>
        </p:txBody>
      </p:sp>
      <p:sp>
        <p:nvSpPr>
          <p:cNvPr id="22" name="Text 20"/>
          <p:cNvSpPr/>
          <p:nvPr/>
        </p:nvSpPr>
        <p:spPr>
          <a:xfrm>
            <a:off x="1170432" y="2414016"/>
            <a:ext cx="411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痛点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1600200" y="2414016"/>
            <a:ext cx="1600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传统 AI 无法感知用户真实监测状况，只能生成泛泛而谈的套话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474720" y="2404872"/>
            <a:ext cx="2194560" cy="43891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Hans-HK" altLang="en-US"/>
          </a:p>
        </p:txBody>
      </p:sp>
      <p:sp>
        <p:nvSpPr>
          <p:cNvPr id="25" name="Text 23"/>
          <p:cNvSpPr/>
          <p:nvPr/>
        </p:nvSpPr>
        <p:spPr>
          <a:xfrm>
            <a:off x="3547872" y="2414016"/>
            <a:ext cx="411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方案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3977640" y="2414016"/>
            <a:ext cx="1600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极简 RAG：自动提取用户体征数据注入 System Prompt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5852160" y="2404872"/>
            <a:ext cx="2194560" cy="43891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Hans-HK" altLang="en-US"/>
          </a:p>
        </p:txBody>
      </p:sp>
      <p:sp>
        <p:nvSpPr>
          <p:cNvPr id="28" name="Text 26"/>
          <p:cNvSpPr/>
          <p:nvPr/>
        </p:nvSpPr>
        <p:spPr>
          <a:xfrm>
            <a:off x="5925312" y="2414016"/>
            <a:ext cx="411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效果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6355080" y="2414016"/>
            <a:ext cx="1600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量身定制 CBT-I 诊断报告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320040" y="2980944"/>
            <a:ext cx="91440" cy="896112"/>
          </a:xfrm>
          <a:prstGeom prst="rect">
            <a:avLst/>
          </a:prstGeom>
          <a:solidFill>
            <a:srgbClr val="E76F51"/>
          </a:solidFill>
          <a:ln/>
        </p:spPr>
        <p:txBody>
          <a:bodyPr/>
          <a:lstStyle/>
          <a:p>
            <a:endParaRPr lang="zh-Hans-HK" altLang="en-US"/>
          </a:p>
        </p:txBody>
      </p:sp>
      <p:sp>
        <p:nvSpPr>
          <p:cNvPr id="31" name="Text 29"/>
          <p:cNvSpPr/>
          <p:nvPr/>
        </p:nvSpPr>
        <p:spPr>
          <a:xfrm>
            <a:off x="548640" y="3026664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76F5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1097280" y="3026664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高维画像聚类可视化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1097280" y="3392424"/>
            <a:ext cx="2194560" cy="43891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Hans-HK" altLang="en-US"/>
          </a:p>
        </p:txBody>
      </p:sp>
      <p:sp>
        <p:nvSpPr>
          <p:cNvPr id="34" name="Text 32"/>
          <p:cNvSpPr/>
          <p:nvPr/>
        </p:nvSpPr>
        <p:spPr>
          <a:xfrm>
            <a:off x="1170432" y="3401568"/>
            <a:ext cx="411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痛点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1600200" y="3401568"/>
            <a:ext cx="1600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传统 2D 图表缺乏空间分布，类簇无实际含义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3474720" y="3392424"/>
            <a:ext cx="2194560" cy="43891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Hans-HK" altLang="en-US"/>
          </a:p>
        </p:txBody>
      </p:sp>
      <p:sp>
        <p:nvSpPr>
          <p:cNvPr id="37" name="Text 35"/>
          <p:cNvSpPr/>
          <p:nvPr/>
        </p:nvSpPr>
        <p:spPr>
          <a:xfrm>
            <a:off x="3547872" y="3401568"/>
            <a:ext cx="411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方案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3977640" y="3401568"/>
            <a:ext cx="1600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KMeans+PCA (16→3维) + ECharts-GL 三维渲染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5852160" y="3392424"/>
            <a:ext cx="2194560" cy="43891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Hans-HK" altLang="en-US"/>
          </a:p>
        </p:txBody>
      </p:sp>
      <p:sp>
        <p:nvSpPr>
          <p:cNvPr id="40" name="Text 38"/>
          <p:cNvSpPr/>
          <p:nvPr/>
        </p:nvSpPr>
        <p:spPr>
          <a:xfrm>
            <a:off x="5925312" y="3401568"/>
            <a:ext cx="411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效果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6355080" y="3401568"/>
            <a:ext cx="1600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可拖拽旋转 + 人类可读标签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320040" y="3968496"/>
            <a:ext cx="91440" cy="896112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zh-Hans-HK" altLang="en-US"/>
          </a:p>
        </p:txBody>
      </p:sp>
      <p:sp>
        <p:nvSpPr>
          <p:cNvPr id="43" name="Text 41"/>
          <p:cNvSpPr/>
          <p:nvPr/>
        </p:nvSpPr>
        <p:spPr>
          <a:xfrm>
            <a:off x="548640" y="4014216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7C3A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2200" dirty="0"/>
          </a:p>
        </p:txBody>
      </p:sp>
      <p:sp>
        <p:nvSpPr>
          <p:cNvPr id="44" name="Text 42"/>
          <p:cNvSpPr/>
          <p:nvPr/>
        </p:nvSpPr>
        <p:spPr>
          <a:xfrm>
            <a:off x="1097280" y="4014216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双引擎读写分离存储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1097280" y="4379976"/>
            <a:ext cx="2194560" cy="43891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Hans-HK" altLang="en-US"/>
          </a:p>
        </p:txBody>
      </p:sp>
      <p:sp>
        <p:nvSpPr>
          <p:cNvPr id="46" name="Text 44"/>
          <p:cNvSpPr/>
          <p:nvPr/>
        </p:nvSpPr>
        <p:spPr>
          <a:xfrm>
            <a:off x="1170432" y="4389120"/>
            <a:ext cx="411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痛点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1600200" y="4389120"/>
            <a:ext cx="1600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多条件组合查询缓慢，无法满足高并发检索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3474720" y="4379976"/>
            <a:ext cx="2194560" cy="43891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Hans-HK" altLang="en-US"/>
          </a:p>
        </p:txBody>
      </p:sp>
      <p:sp>
        <p:nvSpPr>
          <p:cNvPr id="49" name="Text 47"/>
          <p:cNvSpPr/>
          <p:nvPr/>
        </p:nvSpPr>
        <p:spPr>
          <a:xfrm>
            <a:off x="3547872" y="4389120"/>
            <a:ext cx="411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方案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3977640" y="4389120"/>
            <a:ext cx="1600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(轻量汇总) + Elasticsearch (明细倒排索引) 双引擎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5852160" y="4379976"/>
            <a:ext cx="2194560" cy="43891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Hans-HK" altLang="en-US"/>
          </a:p>
        </p:txBody>
      </p:sp>
      <p:sp>
        <p:nvSpPr>
          <p:cNvPr id="52" name="Text 50"/>
          <p:cNvSpPr/>
          <p:nvPr/>
        </p:nvSpPr>
        <p:spPr>
          <a:xfrm>
            <a:off x="5925312" y="4389120"/>
            <a:ext cx="411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效果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6355080" y="4389120"/>
            <a:ext cx="1600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毫秒级检索 + 清洗效率提升 3 倍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064D5C"/>
          </a:solidFill>
          <a:ln/>
        </p:spPr>
        <p:txBody>
          <a:bodyPr/>
          <a:lstStyle/>
          <a:p>
            <a:endParaRPr lang="zh-Hans-HK" altLang="en-US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第七章·总结与展望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201168"/>
            <a:ext cx="7772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804672"/>
            <a:ext cx="54864" cy="320040"/>
          </a:xfrm>
          <a:prstGeom prst="rect">
            <a:avLst/>
          </a:prstGeom>
          <a:solidFill>
            <a:srgbClr val="E76F51"/>
          </a:solidFill>
          <a:ln/>
        </p:spPr>
        <p:txBody>
          <a:bodyPr/>
          <a:lstStyle/>
          <a:p>
            <a:endParaRPr lang="zh-Hans-HK" altLang="en-US"/>
          </a:p>
        </p:txBody>
      </p:sp>
      <p:sp>
        <p:nvSpPr>
          <p:cNvPr id="6" name="Shape 4"/>
          <p:cNvSpPr/>
          <p:nvPr/>
        </p:nvSpPr>
        <p:spPr>
          <a:xfrm>
            <a:off x="365760" y="1051560"/>
            <a:ext cx="4114800" cy="384048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zh-Hans-HK" altLang="en-US"/>
          </a:p>
        </p:txBody>
      </p:sp>
      <p:sp>
        <p:nvSpPr>
          <p:cNvPr id="7" name="Text 5"/>
          <p:cNvSpPr/>
          <p:nvPr/>
        </p:nvSpPr>
        <p:spPr>
          <a:xfrm>
            <a:off x="548640" y="105156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项目成果总结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157276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完成睡眠原始数据到智能诊断报告的端到端大数据实践闭环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48640" y="1956816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搭建真实分布式集群 (3 DataNode + 2 Worker)，非单机伪集群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48640" y="2340864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覆盖数据采集→存储→清洗→建模→预测→可视化的全链路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48640" y="272491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 MLlib 机器学习 + PMML 标准化 + DeepSeek 大模型集成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48640" y="310896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大可视化大屏 + AI 助手 + ES 极速检索，产品完整度高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48640" y="349300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深度性能调优，流水线耗时优化至 71 秒，工程价值显著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754880" y="1051560"/>
            <a:ext cx="4023360" cy="384048"/>
          </a:xfrm>
          <a:prstGeom prst="rect">
            <a:avLst/>
          </a:prstGeom>
          <a:solidFill>
            <a:srgbClr val="E76F51"/>
          </a:solidFill>
          <a:ln/>
        </p:spPr>
        <p:txBody>
          <a:bodyPr/>
          <a:lstStyle/>
          <a:p>
            <a:endParaRPr lang="zh-Hans-HK" altLang="en-US"/>
          </a:p>
        </p:txBody>
      </p:sp>
      <p:sp>
        <p:nvSpPr>
          <p:cNvPr id="15" name="Text 13"/>
          <p:cNvSpPr/>
          <p:nvPr/>
        </p:nvSpPr>
        <p:spPr>
          <a:xfrm>
            <a:off x="4937760" y="105156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未来展望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754880" y="1572768"/>
            <a:ext cx="4023360" cy="475488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Hans-HK" altLang="en-US"/>
          </a:p>
        </p:txBody>
      </p:sp>
      <p:sp>
        <p:nvSpPr>
          <p:cNvPr id="17" name="Shape 15"/>
          <p:cNvSpPr/>
          <p:nvPr/>
        </p:nvSpPr>
        <p:spPr>
          <a:xfrm>
            <a:off x="4754880" y="1572768"/>
            <a:ext cx="54864" cy="475488"/>
          </a:xfrm>
          <a:prstGeom prst="rect">
            <a:avLst/>
          </a:prstGeom>
          <a:solidFill>
            <a:srgbClr val="E76F51"/>
          </a:solidFill>
          <a:ln/>
        </p:spPr>
        <p:txBody>
          <a:bodyPr/>
          <a:lstStyle/>
          <a:p>
            <a:endParaRPr lang="zh-Hans-HK" altLang="en-US"/>
          </a:p>
        </p:txBody>
      </p:sp>
      <p:sp>
        <p:nvSpPr>
          <p:cNvPr id="18" name="Shape 16"/>
          <p:cNvSpPr/>
          <p:nvPr/>
        </p:nvSpPr>
        <p:spPr>
          <a:xfrm>
            <a:off x="4937760" y="1645920"/>
            <a:ext cx="320040" cy="320040"/>
          </a:xfrm>
          <a:prstGeom prst="ellipse">
            <a:avLst/>
          </a:prstGeom>
          <a:solidFill>
            <a:srgbClr val="E76F51"/>
          </a:solidFill>
          <a:ln/>
        </p:spPr>
        <p:txBody>
          <a:bodyPr/>
          <a:lstStyle/>
          <a:p>
            <a:endParaRPr lang="zh-Hans-HK" altLang="en-US"/>
          </a:p>
        </p:txBody>
      </p:sp>
      <p:sp>
        <p:nvSpPr>
          <p:cNvPr id="19" name="Text 17"/>
          <p:cNvSpPr/>
          <p:nvPr/>
        </p:nvSpPr>
        <p:spPr>
          <a:xfrm>
            <a:off x="4937760" y="16459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394960" y="160020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实时流处理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394960" y="1819656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接入 Kafka 实时流，实现睡眠事件实时告警与动态画像更新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754880" y="2139696"/>
            <a:ext cx="4023360" cy="475488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Hans-HK" altLang="en-US"/>
          </a:p>
        </p:txBody>
      </p:sp>
      <p:sp>
        <p:nvSpPr>
          <p:cNvPr id="23" name="Shape 21"/>
          <p:cNvSpPr/>
          <p:nvPr/>
        </p:nvSpPr>
        <p:spPr>
          <a:xfrm>
            <a:off x="4754880" y="2139696"/>
            <a:ext cx="54864" cy="475488"/>
          </a:xfrm>
          <a:prstGeom prst="rect">
            <a:avLst/>
          </a:prstGeom>
          <a:solidFill>
            <a:srgbClr val="E76F51"/>
          </a:solidFill>
          <a:ln/>
        </p:spPr>
        <p:txBody>
          <a:bodyPr/>
          <a:lstStyle/>
          <a:p>
            <a:endParaRPr lang="zh-Hans-HK" altLang="en-US"/>
          </a:p>
        </p:txBody>
      </p:sp>
      <p:sp>
        <p:nvSpPr>
          <p:cNvPr id="24" name="Shape 22"/>
          <p:cNvSpPr/>
          <p:nvPr/>
        </p:nvSpPr>
        <p:spPr>
          <a:xfrm>
            <a:off x="4937760" y="2212848"/>
            <a:ext cx="320040" cy="320040"/>
          </a:xfrm>
          <a:prstGeom prst="ellipse">
            <a:avLst/>
          </a:prstGeom>
          <a:solidFill>
            <a:srgbClr val="E76F51"/>
          </a:solidFill>
          <a:ln/>
        </p:spPr>
        <p:txBody>
          <a:bodyPr/>
          <a:lstStyle/>
          <a:p>
            <a:endParaRPr lang="zh-Hans-HK" altLang="en-US"/>
          </a:p>
        </p:txBody>
      </p:sp>
      <p:sp>
        <p:nvSpPr>
          <p:cNvPr id="25" name="Text 23"/>
          <p:cNvSpPr/>
          <p:nvPr/>
        </p:nvSpPr>
        <p:spPr>
          <a:xfrm>
            <a:off x="4937760" y="221284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394960" y="2167128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模型扩展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394960" y="2386584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引入 XGBoost/LightGBM 等算法，结合 SHAP 可解释性分析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754880" y="2706624"/>
            <a:ext cx="4023360" cy="475488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Hans-HK" altLang="en-US"/>
          </a:p>
        </p:txBody>
      </p:sp>
      <p:sp>
        <p:nvSpPr>
          <p:cNvPr id="29" name="Shape 27"/>
          <p:cNvSpPr/>
          <p:nvPr/>
        </p:nvSpPr>
        <p:spPr>
          <a:xfrm>
            <a:off x="4754880" y="2706624"/>
            <a:ext cx="54864" cy="475488"/>
          </a:xfrm>
          <a:prstGeom prst="rect">
            <a:avLst/>
          </a:prstGeom>
          <a:solidFill>
            <a:srgbClr val="E76F51"/>
          </a:solidFill>
          <a:ln/>
        </p:spPr>
        <p:txBody>
          <a:bodyPr/>
          <a:lstStyle/>
          <a:p>
            <a:endParaRPr lang="zh-Hans-HK" altLang="en-US"/>
          </a:p>
        </p:txBody>
      </p:sp>
      <p:sp>
        <p:nvSpPr>
          <p:cNvPr id="30" name="Shape 28"/>
          <p:cNvSpPr/>
          <p:nvPr/>
        </p:nvSpPr>
        <p:spPr>
          <a:xfrm>
            <a:off x="4937760" y="2779776"/>
            <a:ext cx="320040" cy="320040"/>
          </a:xfrm>
          <a:prstGeom prst="ellipse">
            <a:avLst/>
          </a:prstGeom>
          <a:solidFill>
            <a:srgbClr val="E76F51"/>
          </a:solidFill>
          <a:ln/>
        </p:spPr>
        <p:txBody>
          <a:bodyPr/>
          <a:lstStyle/>
          <a:p>
            <a:endParaRPr lang="zh-Hans-HK" altLang="en-US"/>
          </a:p>
        </p:txBody>
      </p:sp>
      <p:sp>
        <p:nvSpPr>
          <p:cNvPr id="31" name="Text 29"/>
          <p:cNvSpPr/>
          <p:nvPr/>
        </p:nvSpPr>
        <p:spPr>
          <a:xfrm>
            <a:off x="4937760" y="277977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394960" y="2734056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多源数据融合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394960" y="295351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扩展多</a:t>
            </a:r>
            <a:r>
              <a:rPr lang="zh-CN" alt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数据源</a:t>
            </a:r>
            <a:r>
              <a:rPr lang="en-US" sz="9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接入，构建更精准的人群健康预警体系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754880" y="3273552"/>
            <a:ext cx="4023360" cy="475488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Hans-HK" altLang="en-US"/>
          </a:p>
        </p:txBody>
      </p:sp>
      <p:sp>
        <p:nvSpPr>
          <p:cNvPr id="35" name="Shape 33"/>
          <p:cNvSpPr/>
          <p:nvPr/>
        </p:nvSpPr>
        <p:spPr>
          <a:xfrm>
            <a:off x="4754880" y="3273552"/>
            <a:ext cx="54864" cy="475488"/>
          </a:xfrm>
          <a:prstGeom prst="rect">
            <a:avLst/>
          </a:prstGeom>
          <a:solidFill>
            <a:srgbClr val="E76F51"/>
          </a:solidFill>
          <a:ln/>
        </p:spPr>
        <p:txBody>
          <a:bodyPr/>
          <a:lstStyle/>
          <a:p>
            <a:endParaRPr lang="zh-Hans-HK" altLang="en-US"/>
          </a:p>
        </p:txBody>
      </p:sp>
      <p:sp>
        <p:nvSpPr>
          <p:cNvPr id="36" name="Shape 34"/>
          <p:cNvSpPr/>
          <p:nvPr/>
        </p:nvSpPr>
        <p:spPr>
          <a:xfrm>
            <a:off x="4937760" y="3346704"/>
            <a:ext cx="320040" cy="320040"/>
          </a:xfrm>
          <a:prstGeom prst="ellipse">
            <a:avLst/>
          </a:prstGeom>
          <a:solidFill>
            <a:srgbClr val="E76F51"/>
          </a:solidFill>
          <a:ln/>
        </p:spPr>
        <p:txBody>
          <a:bodyPr/>
          <a:lstStyle/>
          <a:p>
            <a:endParaRPr lang="zh-Hans-HK" altLang="en-US"/>
          </a:p>
        </p:txBody>
      </p:sp>
      <p:sp>
        <p:nvSpPr>
          <p:cNvPr id="37" name="Text 35"/>
          <p:cNvSpPr/>
          <p:nvPr/>
        </p:nvSpPr>
        <p:spPr>
          <a:xfrm>
            <a:off x="4937760" y="334670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5394960" y="3300984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移动端适配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394960" y="352044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开发移动 App/小程序，实现随时随地的睡眠健康管理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365760" y="4251960"/>
            <a:ext cx="8412480" cy="594360"/>
          </a:xfrm>
          <a:prstGeom prst="rect">
            <a:avLst/>
          </a:prstGeom>
          <a:solidFill>
            <a:srgbClr val="064D5C"/>
          </a:solidFill>
          <a:ln/>
        </p:spPr>
        <p:txBody>
          <a:bodyPr/>
          <a:lstStyle/>
          <a:p>
            <a:endParaRPr lang="zh-Hans-HK" altLang="en-US"/>
          </a:p>
        </p:txBody>
      </p:sp>
      <p:sp>
        <p:nvSpPr>
          <p:cNvPr id="41" name="Text 39"/>
          <p:cNvSpPr/>
          <p:nvPr/>
        </p:nvSpPr>
        <p:spPr>
          <a:xfrm>
            <a:off x="548640" y="425196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愿景：构建从数据采集、智能分析到个性化干预的睡眠健康管理全闭环生态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064D5C"/>
          </a:solidFill>
          <a:ln/>
        </p:spPr>
        <p:txBody>
          <a:bodyPr/>
          <a:lstStyle/>
          <a:p>
            <a:endParaRPr lang="zh-Hans-HK" altLang="en-US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第八章·小组分工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201168"/>
            <a:ext cx="7772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804672"/>
            <a:ext cx="54864" cy="320040"/>
          </a:xfrm>
          <a:prstGeom prst="rect">
            <a:avLst/>
          </a:prstGeom>
          <a:solidFill>
            <a:srgbClr val="E76F51"/>
          </a:solidFill>
          <a:ln/>
        </p:spPr>
        <p:txBody>
          <a:bodyPr/>
          <a:lstStyle/>
          <a:p>
            <a:endParaRPr lang="zh-Hans-HK" altLang="en-US"/>
          </a:p>
        </p:txBody>
      </p:sp>
      <p:sp>
        <p:nvSpPr>
          <p:cNvPr id="6" name="Shape 4"/>
          <p:cNvSpPr/>
          <p:nvPr/>
        </p:nvSpPr>
        <p:spPr>
          <a:xfrm>
            <a:off x="182880" y="1051560"/>
            <a:ext cx="160020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Hans-HK" altLang="en-US"/>
          </a:p>
        </p:txBody>
      </p:sp>
      <p:sp>
        <p:nvSpPr>
          <p:cNvPr id="7" name="Shape 5"/>
          <p:cNvSpPr/>
          <p:nvPr/>
        </p:nvSpPr>
        <p:spPr>
          <a:xfrm>
            <a:off x="182880" y="1051560"/>
            <a:ext cx="1600200" cy="658368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zh-Hans-HK" altLang="en-US"/>
          </a:p>
        </p:txBody>
      </p:sp>
      <p:sp>
        <p:nvSpPr>
          <p:cNvPr id="8" name="Text 6"/>
          <p:cNvSpPr/>
          <p:nvPr/>
        </p:nvSpPr>
        <p:spPr>
          <a:xfrm>
            <a:off x="182880" y="1078992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赵国旭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82880" y="141732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项目负责人 / 全栈架构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256032" y="1783080"/>
            <a:ext cx="1453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20235106123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11480" y="2011680"/>
            <a:ext cx="1143000" cy="18288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zh-Hans-HK" altLang="en-US"/>
          </a:p>
        </p:txBody>
      </p:sp>
      <p:sp>
        <p:nvSpPr>
          <p:cNvPr id="12" name="Text 10"/>
          <p:cNvSpPr/>
          <p:nvPr/>
        </p:nvSpPr>
        <p:spPr>
          <a:xfrm>
            <a:off x="256032" y="2148840"/>
            <a:ext cx="1453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系统架构设计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256032" y="2423160"/>
            <a:ext cx="1453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zh-CN" altLang="en-US" sz="850" dirty="0"/>
              <a:t>整体技术选型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256032" y="2697480"/>
            <a:ext cx="1453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 集群与流水线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256032" y="2971800"/>
            <a:ext cx="1453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PMML 模型推理服务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256032" y="3246120"/>
            <a:ext cx="1453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zh-CN" alt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分布式集群设计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1947672" y="1051560"/>
            <a:ext cx="160020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Hans-HK" altLang="en-US"/>
          </a:p>
        </p:txBody>
      </p:sp>
      <p:sp>
        <p:nvSpPr>
          <p:cNvPr id="18" name="Shape 16"/>
          <p:cNvSpPr/>
          <p:nvPr/>
        </p:nvSpPr>
        <p:spPr>
          <a:xfrm>
            <a:off x="1947672" y="1051560"/>
            <a:ext cx="1600200" cy="658368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zh-Hans-HK" altLang="en-US"/>
          </a:p>
        </p:txBody>
      </p:sp>
      <p:sp>
        <p:nvSpPr>
          <p:cNvPr id="19" name="Text 17"/>
          <p:cNvSpPr/>
          <p:nvPr/>
        </p:nvSpPr>
        <p:spPr>
          <a:xfrm>
            <a:off x="1947672" y="1078992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王宛强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947672" y="141732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前端开发 / 可视化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2020824" y="1783080"/>
            <a:ext cx="1453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20235106101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2176272" y="2011680"/>
            <a:ext cx="1143000" cy="18288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zh-Hans-HK" altLang="en-US"/>
          </a:p>
        </p:txBody>
      </p:sp>
      <p:sp>
        <p:nvSpPr>
          <p:cNvPr id="23" name="Text 21"/>
          <p:cNvSpPr/>
          <p:nvPr/>
        </p:nvSpPr>
        <p:spPr>
          <a:xfrm>
            <a:off x="2020824" y="2148840"/>
            <a:ext cx="1453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Vue3 项目搭建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2020824" y="2423160"/>
            <a:ext cx="1453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大屏可视化开发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2020824" y="2697480"/>
            <a:ext cx="1453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ECharts/GL 图表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2020824" y="2971800"/>
            <a:ext cx="1453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路由守卫与鉴权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2020824" y="3246120"/>
            <a:ext cx="1453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助手前端组件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712464" y="1051560"/>
            <a:ext cx="160020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Hans-HK" altLang="en-US"/>
          </a:p>
        </p:txBody>
      </p:sp>
      <p:sp>
        <p:nvSpPr>
          <p:cNvPr id="29" name="Shape 27"/>
          <p:cNvSpPr/>
          <p:nvPr/>
        </p:nvSpPr>
        <p:spPr>
          <a:xfrm>
            <a:off x="3712464" y="1051560"/>
            <a:ext cx="1600200" cy="658368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zh-Hans-HK" altLang="en-US" dirty="0"/>
          </a:p>
        </p:txBody>
      </p:sp>
      <p:sp>
        <p:nvSpPr>
          <p:cNvPr id="30" name="Text 28"/>
          <p:cNvSpPr/>
          <p:nvPr/>
        </p:nvSpPr>
        <p:spPr>
          <a:xfrm>
            <a:off x="3712464" y="1078992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杜心浩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3722403" y="141732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机器学习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3785616" y="1783080"/>
            <a:ext cx="1453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20235106102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3941064" y="2011680"/>
            <a:ext cx="1143000" cy="18288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zh-Hans-HK" altLang="en-US"/>
          </a:p>
        </p:txBody>
      </p:sp>
      <p:sp>
        <p:nvSpPr>
          <p:cNvPr id="34" name="Text 32"/>
          <p:cNvSpPr/>
          <p:nvPr/>
        </p:nvSpPr>
        <p:spPr>
          <a:xfrm>
            <a:off x="3785616" y="2148840"/>
            <a:ext cx="1453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altLang="zh-CN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</a:t>
            </a:r>
            <a:r>
              <a:rPr lang="zh-CN" alt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性能调优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3785616" y="2423160"/>
            <a:ext cx="1453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zh-CN" alt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模型评估指标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3785616" y="2697480"/>
            <a:ext cx="1453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随机森林模型训练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3785616" y="2971800"/>
            <a:ext cx="1453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KMeans+PCA 聚类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3785616" y="3246120"/>
            <a:ext cx="1453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索引设计与同步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5477256" y="1051560"/>
            <a:ext cx="160020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Hans-HK" altLang="en-US"/>
          </a:p>
        </p:txBody>
      </p:sp>
      <p:sp>
        <p:nvSpPr>
          <p:cNvPr id="40" name="Shape 38"/>
          <p:cNvSpPr/>
          <p:nvPr/>
        </p:nvSpPr>
        <p:spPr>
          <a:xfrm>
            <a:off x="5477256" y="1051560"/>
            <a:ext cx="1600200" cy="658368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zh-Hans-HK" altLang="en-US"/>
          </a:p>
        </p:txBody>
      </p:sp>
      <p:sp>
        <p:nvSpPr>
          <p:cNvPr id="41" name="Text 39"/>
          <p:cNvSpPr/>
          <p:nvPr/>
        </p:nvSpPr>
        <p:spPr>
          <a:xfrm>
            <a:off x="5477256" y="1078992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白天航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5477256" y="141732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后端开发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5550408" y="1783080"/>
            <a:ext cx="1453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20235106103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5705856" y="2011680"/>
            <a:ext cx="1143000" cy="18288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zh-Hans-HK" altLang="en-US"/>
          </a:p>
        </p:txBody>
      </p:sp>
      <p:sp>
        <p:nvSpPr>
          <p:cNvPr id="45" name="Text 43"/>
          <p:cNvSpPr/>
          <p:nvPr/>
        </p:nvSpPr>
        <p:spPr>
          <a:xfrm>
            <a:off x="5550408" y="2148840"/>
            <a:ext cx="1453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集群搭建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5550408" y="2423160"/>
            <a:ext cx="1453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HDFS/Hive 环境配置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5550408" y="2697480"/>
            <a:ext cx="1453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数据库设计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5550408" y="2971800"/>
            <a:ext cx="1453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集群管理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5550408" y="3246120"/>
            <a:ext cx="1453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altLang="zh-CN" sz="85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Springboot</a:t>
            </a:r>
            <a:r>
              <a:rPr lang="en-US" altLang="zh-CN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rest </a:t>
            </a:r>
            <a:r>
              <a:rPr lang="en-US" altLang="zh-CN" sz="85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r>
              <a:rPr lang="zh-CN" alt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设计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7242048" y="1051560"/>
            <a:ext cx="160020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Hans-HK" altLang="en-US"/>
          </a:p>
        </p:txBody>
      </p:sp>
      <p:sp>
        <p:nvSpPr>
          <p:cNvPr id="51" name="Shape 49"/>
          <p:cNvSpPr/>
          <p:nvPr/>
        </p:nvSpPr>
        <p:spPr>
          <a:xfrm>
            <a:off x="7242048" y="1051560"/>
            <a:ext cx="1600200" cy="658368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zh-Hans-HK" altLang="en-US" dirty="0"/>
          </a:p>
        </p:txBody>
      </p:sp>
      <p:sp>
        <p:nvSpPr>
          <p:cNvPr id="52" name="Text 50"/>
          <p:cNvSpPr/>
          <p:nvPr/>
        </p:nvSpPr>
        <p:spPr>
          <a:xfrm>
            <a:off x="7242048" y="1078992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李定晨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7242048" y="141732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数据采集</a:t>
            </a:r>
            <a:r>
              <a:rPr lang="en-US" altLang="zh-CN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</a:t>
            </a:r>
            <a:r>
              <a:rPr lang="zh-CN" alt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数仓建模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7315200" y="1783080"/>
            <a:ext cx="1453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20235106104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7470648" y="2011680"/>
            <a:ext cx="1143000" cy="18288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zh-Hans-HK" altLang="en-US"/>
          </a:p>
        </p:txBody>
      </p:sp>
      <p:sp>
        <p:nvSpPr>
          <p:cNvPr id="56" name="Text 54"/>
          <p:cNvSpPr/>
          <p:nvPr/>
        </p:nvSpPr>
        <p:spPr>
          <a:xfrm>
            <a:off x="7315200" y="2148840"/>
            <a:ext cx="1453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altLang="zh-Hans-HK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Hive </a:t>
            </a:r>
            <a:r>
              <a:rPr lang="en-US" altLang="zh-Hans-HK" sz="85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数仓分层建模</a:t>
            </a:r>
            <a:endParaRPr lang="en-US" altLang="zh-Hans-HK" sz="850" dirty="0"/>
          </a:p>
        </p:txBody>
      </p:sp>
      <p:sp>
        <p:nvSpPr>
          <p:cNvPr id="57" name="Text 55"/>
          <p:cNvSpPr/>
          <p:nvPr/>
        </p:nvSpPr>
        <p:spPr>
          <a:xfrm>
            <a:off x="7315200" y="2423160"/>
            <a:ext cx="1453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性能基准测试调优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7315200" y="2697480"/>
            <a:ext cx="1453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7472" indent="-347472" algn="l" rtl="0" eaLnBrk="1" latinLnBrk="0" hangingPunct="1">
              <a:buClrTx/>
              <a:buSzPct val="100000"/>
              <a:buFont typeface="Arial" panose="020B0604020202020204" pitchFamily="34" charset="0"/>
              <a:buChar char="•"/>
            </a:pPr>
            <a:r>
              <a:rPr lang="en-US" altLang="zh-Hans-HK" sz="850" kern="1200" dirty="0">
                <a:solidFill>
                  <a:srgbClr val="1E293B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ETL </a:t>
            </a:r>
            <a:r>
              <a:rPr lang="en-US" altLang="zh-Hans-HK" sz="850" kern="1200" dirty="0" err="1">
                <a:solidFill>
                  <a:srgbClr val="1E293B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数据清洗流水线</a:t>
            </a:r>
            <a:endParaRPr lang="zh-Hans-HK" altLang="zh-Hans-HK" sz="850" dirty="0">
              <a:effectLst/>
            </a:endParaRPr>
          </a:p>
        </p:txBody>
      </p:sp>
      <p:sp>
        <p:nvSpPr>
          <p:cNvPr id="59" name="Text 57"/>
          <p:cNvSpPr/>
          <p:nvPr/>
        </p:nvSpPr>
        <p:spPr>
          <a:xfrm>
            <a:off x="7315200" y="2971800"/>
            <a:ext cx="1453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zh-CN" alt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数据关联性注入</a:t>
            </a: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7315200" y="3246120"/>
            <a:ext cx="1453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数据集调研验证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64D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2926080"/>
            <a:ext cx="4114800" cy="4114800"/>
          </a:xfrm>
          <a:prstGeom prst="ellipse">
            <a:avLst/>
          </a:prstGeom>
          <a:solidFill>
            <a:srgbClr val="0D9488">
              <a:alpha val="20000"/>
            </a:srgbClr>
          </a:solidFill>
          <a:ln/>
        </p:spPr>
        <p:txBody>
          <a:bodyPr/>
          <a:lstStyle/>
          <a:p>
            <a:endParaRPr lang="zh-Hans-HK" altLang="en-US"/>
          </a:p>
        </p:txBody>
      </p:sp>
      <p:sp>
        <p:nvSpPr>
          <p:cNvPr id="3" name="Shape 1"/>
          <p:cNvSpPr/>
          <p:nvPr/>
        </p:nvSpPr>
        <p:spPr>
          <a:xfrm>
            <a:off x="6858000" y="-1371600"/>
            <a:ext cx="4114800" cy="4114800"/>
          </a:xfrm>
          <a:prstGeom prst="ellipse">
            <a:avLst/>
          </a:prstGeom>
          <a:solidFill>
            <a:srgbClr val="0D9488">
              <a:alpha val="20000"/>
            </a:srgbClr>
          </a:solidFill>
          <a:ln/>
        </p:spPr>
        <p:txBody>
          <a:bodyPr/>
          <a:lstStyle/>
          <a:p>
            <a:endParaRPr lang="zh-Hans-HK" altLang="en-US"/>
          </a:p>
        </p:txBody>
      </p:sp>
      <p:sp>
        <p:nvSpPr>
          <p:cNvPr id="4" name="Text 2"/>
          <p:cNvSpPr/>
          <p:nvPr/>
        </p:nvSpPr>
        <p:spPr>
          <a:xfrm>
            <a:off x="0" y="1371600"/>
            <a:ext cx="9144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感谢聆听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3200400" y="2743200"/>
            <a:ext cx="2743200" cy="32004"/>
          </a:xfrm>
          <a:prstGeom prst="rect">
            <a:avLst/>
          </a:prstGeom>
          <a:solidFill>
            <a:srgbClr val="E76F51"/>
          </a:solidFill>
          <a:ln/>
        </p:spPr>
        <p:txBody>
          <a:bodyPr/>
          <a:lstStyle/>
          <a:p>
            <a:endParaRPr lang="zh-Hans-HK" altLang="en-US"/>
          </a:p>
        </p:txBody>
      </p:sp>
      <p:sp>
        <p:nvSpPr>
          <p:cNvPr id="6" name="Text 4"/>
          <p:cNvSpPr/>
          <p:nvPr/>
        </p:nvSpPr>
        <p:spPr>
          <a:xfrm>
            <a:off x="0" y="292608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请各位老师批评指正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0" y="37490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睡眠健康大数据平台 — 第四组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0" y="41605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年 7 月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1233</Words>
  <Application>Microsoft Office PowerPoint</Application>
  <PresentationFormat>全屏显示(16:9)</PresentationFormat>
  <Paragraphs>371</Paragraphs>
  <Slides>13</Slides>
  <Notes>13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17" baseType="lpstr">
      <vt:lpstr>Arial</vt:lpstr>
      <vt:lpstr>Calibri</vt:lpstr>
      <vt:lpstr>Trebuchet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睡眠健康大数据平台答辩PPT</dc:title>
  <dc:subject>PptxGenJS Presentation</dc:subject>
  <dc:creator>第四组</dc:creator>
  <cp:lastModifiedBy>yz x</cp:lastModifiedBy>
  <cp:revision>3</cp:revision>
  <dcterms:created xsi:type="dcterms:W3CDTF">2026-07-20T10:40:30Z</dcterms:created>
  <dcterms:modified xsi:type="dcterms:W3CDTF">2026-07-20T11:23:55Z</dcterms:modified>
</cp:coreProperties>
</file>